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76250"/>
            <a:ext cx="127635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9934575" y="2730401"/>
            <a:ext cx="114300" cy="1143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4730651" y="4908649"/>
            <a:ext cx="762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1411337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85950" y="1520875"/>
            <a:ext cx="2542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TRAINING DECK · 2026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390650" y="2530822"/>
            <a:ext cx="14039850" cy="135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Bef>
                <a:spcPts val="3116"/>
              </a:spcBef>
              <a:spcAft>
                <a:spcPts val="3116"/>
              </a:spcAft>
              <a:buNone/>
            </a:pPr>
            <a:r>
              <a:rPr lang="en-US" sz="46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AI Agent
</a:t>
            </a:r>
            <a:pPr algn="l" indent="0" marL="0">
              <a:lnSpc>
                <a:spcPts val="5347"/>
              </a:lnSpc>
              <a:spcBef>
                <a:spcPts val="3116"/>
              </a:spcBef>
              <a:spcAft>
                <a:spcPts val="3116"/>
              </a:spcAft>
              <a:buNone/>
            </a:pPr>
            <a:r>
              <a:rPr lang="en-US" sz="465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开发前沿技术</a:t>
            </a:r>
            <a:pPr algn="l" indent="0" marL="0">
              <a:lnSpc>
                <a:spcPts val="5347"/>
              </a:lnSpc>
              <a:spcBef>
                <a:spcPts val="3116"/>
              </a:spcBef>
              <a:spcAft>
                <a:spcPts val="3116"/>
              </a:spcAft>
              <a:buNone/>
            </a:pPr>
            <a:r>
              <a:rPr lang="en-US" sz="46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快速扫盲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90650" y="4551313"/>
            <a:ext cx="14039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1725"/>
              </a:spcAft>
              <a:buNone/>
            </a:pPr>
            <a:r>
              <a:rPr lang="en-US" sz="17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 Java 后端工程师的生态认知教程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390650" y="5170438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建立一张 Python AI Engineering 技术地图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0650" y="5980063"/>
            <a:ext cx="1017471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73970" y="5980063"/>
            <a:ext cx="1040755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79465" y="5980063"/>
            <a:ext cx="643518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06639" y="5980063"/>
            <a:ext cx="651331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41255" y="5980063"/>
            <a:ext cx="604763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A2A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31520" y="5980063"/>
            <a:ext cx="596793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620673" y="6543675"/>
            <a:ext cx="1875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讲师：____ · 日期：2026-08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90650" y="6543675"/>
            <a:ext cx="18992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 28 页 · 覆盖 13 章 · 4 阶段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276475"/>
            <a:ext cx="3695700" cy="2505075"/>
          </a:xfrm>
          <a:prstGeom prst="roundRect">
            <a:avLst>
              <a:gd name="adj" fmla="val 304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0150" y="2276475"/>
            <a:ext cx="3695700" cy="2505075"/>
          </a:xfrm>
          <a:prstGeom prst="roundRect">
            <a:avLst>
              <a:gd name="adj" fmla="val 304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34450" y="2276475"/>
            <a:ext cx="3695700" cy="2505075"/>
          </a:xfrm>
          <a:prstGeom prst="roundRect">
            <a:avLst>
              <a:gd name="adj" fmla="val 304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5124450"/>
            <a:ext cx="11544300" cy="1231106"/>
          </a:xfrm>
          <a:prstGeom prst="roundRect">
            <a:avLst>
              <a:gd name="adj" fmla="val 6190"/>
            </a:avLst>
          </a:prstGeom>
          <a:solidFill>
            <a:srgbClr val="0F1B2E"/>
          </a:solidFill>
          <a:ln/>
        </p:spPr>
      </p:sp>
      <p:sp>
        <p:nvSpPr>
          <p:cNvPr id="7" name="Shape 5"/>
          <p:cNvSpPr/>
          <p:nvPr/>
        </p:nvSpPr>
        <p:spPr>
          <a:xfrm>
            <a:off x="1100138" y="5124450"/>
            <a:ext cx="0" cy="123110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" y="1009650"/>
            <a:ext cx="796290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课程定位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85850" y="1400175"/>
            <a:ext cx="12698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这门课是什么 / 不是什么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62075" y="2686050"/>
            <a:ext cx="3457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目标听众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62075" y="3019425"/>
            <a:ext cx="3143250" cy="1333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3 年以上 Java 后端经验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能读 Python，不熟 asyncio / decorator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用过 ChatGPT，没搭过 LLM 应用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不需要机器学习 / 数学背景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86375" y="2686050"/>
            <a:ext cx="3457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这门课不是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86375" y="3019425"/>
            <a:ext cx="3143250" cy="1333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不是 Python 语法课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不是机器学习原理课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不训练模型，不碰梯度下降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不设固定时长，按需跳读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10675" y="2686050"/>
            <a:ext cx="3457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这门课是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10675" y="3019425"/>
            <a:ext cx="3143250" cy="1333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生态认知教程：建立技术地图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看懂组件边界与数据流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知道何时用 / 何时别用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学完能画出企业级架构图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1125" y="5334000"/>
            <a:ext cx="2045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150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28341" y="5476875"/>
            <a:ext cx="11698620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 Java 工程师的关键提示：把 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当作"通过 HTTP 调用的、会推理的外部服务"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 把 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当作"用 LLM 做决策、会调用工具的 Spring Service"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 剩下的问题只是"用什么框架把这两件事拼起来"。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211586"/>
            <a:ext cx="2743200" cy="2790825"/>
          </a:xfrm>
          <a:prstGeom prst="roundRect">
            <a:avLst>
              <a:gd name="adj" fmla="val 2778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3975" y="3202186"/>
            <a:ext cx="2266950" cy="952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4019550" y="2211586"/>
            <a:ext cx="2743200" cy="2790825"/>
          </a:xfrm>
          <a:prstGeom prst="roundRect">
            <a:avLst>
              <a:gd name="adj" fmla="val 2778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675" y="3202186"/>
            <a:ext cx="2266950" cy="952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6953250" y="2211586"/>
            <a:ext cx="2743200" cy="2790825"/>
          </a:xfrm>
          <a:prstGeom prst="roundRect">
            <a:avLst>
              <a:gd name="adj" fmla="val 2778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1375" y="3202186"/>
            <a:ext cx="2266950" cy="952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9886950" y="2211586"/>
            <a:ext cx="2743200" cy="2790825"/>
          </a:xfrm>
          <a:prstGeom prst="roundRect">
            <a:avLst>
              <a:gd name="adj" fmla="val 2778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25075" y="3202186"/>
            <a:ext cx="2266950" cy="952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" y="5307211"/>
            <a:ext cx="3721001" cy="723900"/>
          </a:xfrm>
          <a:prstGeom prst="roundRect">
            <a:avLst>
              <a:gd name="adj" fmla="val 5263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97351" y="5307211"/>
            <a:ext cx="3721150" cy="723900"/>
          </a:xfrm>
          <a:prstGeom prst="roundRect">
            <a:avLst>
              <a:gd name="adj" fmla="val 5263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09000" y="5307211"/>
            <a:ext cx="3721001" cy="723900"/>
          </a:xfrm>
          <a:prstGeom prst="roundRect">
            <a:avLst>
              <a:gd name="adj" fmla="val 5263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" y="1009650"/>
            <a:ext cx="796290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章节地图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85850" y="1400175"/>
            <a:ext cx="12698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四阶段 13 章 · 三大核心问题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23975" y="2573536"/>
            <a:ext cx="24936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 A · 认知地基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323975" y="2868811"/>
            <a:ext cx="24936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生态是什么？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23975" y="3364111"/>
            <a:ext cx="2266950" cy="4762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Python AI 生态概览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LLM 应用开发基础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257675" y="2573536"/>
            <a:ext cx="24936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 B · 核心组件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257675" y="2868811"/>
            <a:ext cx="24936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组件解决什么？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57675" y="3364111"/>
            <a:ext cx="2266950" cy="990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LangChain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LangGraph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RAG 技术体系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LlamaIndex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7191375" y="2573536"/>
            <a:ext cx="24936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 C · 工程化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191375" y="2868811"/>
            <a:ext cx="24936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怎么接系统 / 协作 / 稳？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91375" y="3364111"/>
            <a:ext cx="2266950" cy="12573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MCP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A2A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Harness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Agent Skill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框架选型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0125075" y="2573536"/>
            <a:ext cx="24936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 D · 架构实战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0125075" y="2868811"/>
            <a:ext cx="24936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怎么组合成应用？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25075" y="3364111"/>
            <a:ext cx="2266950" cy="4762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企业级架构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综合案例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323975" y="5516761"/>
            <a:ext cx="14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Q1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578769" y="5497711"/>
            <a:ext cx="1770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生态是什么？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3975" y="5707261"/>
            <a:ext cx="3569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第 1-2 章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235476" y="5516761"/>
            <a:ext cx="14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Q2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490270" y="5497711"/>
            <a:ext cx="18440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每个组件解决什么问题？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5476" y="5707261"/>
            <a:ext cx="3569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第 3-11 章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147125" y="5516761"/>
            <a:ext cx="14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Q3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401919" y="5497711"/>
            <a:ext cx="2040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如何组合形成 Agent 应用？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7125" y="5707261"/>
            <a:ext cx="3569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第 12-13 章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76250"/>
            <a:ext cx="914400" cy="6762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000250" y="5312420"/>
            <a:ext cx="2323356" cy="1581150"/>
          </a:xfrm>
          <a:prstGeom prst="roundRect">
            <a:avLst>
              <a:gd name="adj" fmla="val 481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76006" y="5312420"/>
            <a:ext cx="2442121" cy="1581150"/>
          </a:xfrm>
          <a:prstGeom prst="roundRect">
            <a:avLst>
              <a:gd name="adj" fmla="val 481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00250" y="1507480"/>
            <a:ext cx="13401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5400"/>
              </a:spcBef>
              <a:spcAft>
                <a:spcPts val="5400"/>
              </a:spcAft>
              <a:buNone/>
            </a:pPr>
            <a:r>
              <a:rPr lang="en-US" sz="5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000250" y="3031480"/>
            <a:ext cx="14039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A · 认知地基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00250" y="4369445"/>
            <a:ext cx="14039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"Python AI 生态是什么"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276475" y="5636270"/>
            <a:ext cx="18594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76475" y="5960120"/>
            <a:ext cx="19479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生态概览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276475" y="6379220"/>
            <a:ext cx="1947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为什么是 Python · 五层技术栈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2231" y="5636270"/>
            <a:ext cx="1984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52231" y="5960120"/>
            <a:ext cx="20786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应用开发基础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4752231" y="6379220"/>
            <a:ext cx="20786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个术语 · Tool Calling 四步闭环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53675" y="6543675"/>
            <a:ext cx="21688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Agent 快速扫盲 · 4 / 28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2743200" cy="2138363"/>
          </a:xfrm>
          <a:prstGeom prst="roundRect">
            <a:avLst>
              <a:gd name="adj" fmla="val 356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19550" y="2062460"/>
            <a:ext cx="2743200" cy="2138363"/>
          </a:xfrm>
          <a:prstGeom prst="roundRect">
            <a:avLst>
              <a:gd name="adj" fmla="val 356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53250" y="2062460"/>
            <a:ext cx="2743200" cy="2138363"/>
          </a:xfrm>
          <a:prstGeom prst="roundRect">
            <a:avLst>
              <a:gd name="adj" fmla="val 356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86950" y="2062460"/>
            <a:ext cx="2743200" cy="2138363"/>
          </a:xfrm>
          <a:prstGeom prst="roundRect">
            <a:avLst>
              <a:gd name="adj" fmla="val 356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" y="4800898"/>
            <a:ext cx="11544300" cy="4267200"/>
          </a:xfrm>
          <a:prstGeom prst="roundRect">
            <a:avLst>
              <a:gd name="adj" fmla="val 1786"/>
            </a:avLst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375" y="4810423"/>
            <a:ext cx="11525250" cy="676275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5486698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1095375" y="6201073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1" name="Shape 9"/>
          <p:cNvSpPr/>
          <p:nvPr/>
        </p:nvSpPr>
        <p:spPr>
          <a:xfrm>
            <a:off x="1095375" y="6915448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5375" y="7629823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5375" y="8344198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5375" y="5491460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375" y="6205835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375" y="6920210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5375" y="7634585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375" y="8348960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章 · 阶段 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295674" y="971550"/>
            <a:ext cx="1165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生态概览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为什么 AI 项目都用 Python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285875" y="2510135"/>
            <a:ext cx="246030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85875" y="3053060"/>
            <a:ext cx="25774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SDK 优先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85875" y="3434060"/>
            <a:ext cx="257746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DeepSeek / 通义千问一行调用，厂商 SDK 首发 Python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19575" y="2510135"/>
            <a:ext cx="246030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219575" y="3053060"/>
            <a:ext cx="25774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快速实验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4219575" y="3434060"/>
            <a:ext cx="257746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REPL / Notebook 即时反馈，迭代节奏快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3275" y="2510135"/>
            <a:ext cx="246030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153275" y="3053060"/>
            <a:ext cx="25774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数据生态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7153275" y="3434060"/>
            <a:ext cx="257746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NumPy / Pandas / PyTorch 一整套数据处理栈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86975" y="2510135"/>
            <a:ext cx="246030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086975" y="3053060"/>
            <a:ext cx="25774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工具链成熟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0086975" y="3434060"/>
            <a:ext cx="257746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 / LlamaIndex 等 LLM 生态已成型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85850" y="4467523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五层技术栈 · Java 类比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323975" y="5058073"/>
            <a:ext cx="4058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13275" y="5058073"/>
            <a:ext cx="4058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组件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702576" y="5058073"/>
            <a:ext cx="40583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Java 类比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323975" y="5753398"/>
            <a:ext cx="4058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 框架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5013275" y="5753398"/>
            <a:ext cx="38737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FastAPI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8702576" y="5753398"/>
            <a:ext cx="3873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Boot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323975" y="6467773"/>
            <a:ext cx="4058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编排框架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5013275" y="6467773"/>
            <a:ext cx="38737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 / LangGraph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8702576" y="6467773"/>
            <a:ext cx="3873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Integration / Camunda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323975" y="7182148"/>
            <a:ext cx="38737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SDK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013275" y="7182148"/>
            <a:ext cx="4058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DeepSeek（OpenAI 兼容）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8702576" y="7182148"/>
            <a:ext cx="3873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HttpClient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323975" y="7896523"/>
            <a:ext cx="4058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向量检索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5013275" y="7896523"/>
            <a:ext cx="38737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Milvus / Chroma / FAISS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8702576" y="7896523"/>
            <a:ext cx="40583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Elasticsearch（向量版）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323975" y="8610898"/>
            <a:ext cx="4058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工具协议 / 运行时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5013275" y="8610898"/>
            <a:ext cx="38737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/ Harness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8702576" y="8610898"/>
            <a:ext cx="40583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/ Spring 容器 + AOP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6835080" cy="4038600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6816030" cy="352425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5" name="Shape 3"/>
          <p:cNvSpPr/>
          <p:nvPr/>
        </p:nvSpPr>
        <p:spPr>
          <a:xfrm>
            <a:off x="8149530" y="2062460"/>
            <a:ext cx="4480471" cy="1251347"/>
          </a:xfrm>
          <a:prstGeom prst="roundRect">
            <a:avLst>
              <a:gd name="adj" fmla="val 6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9530" y="3466207"/>
            <a:ext cx="4480471" cy="1685925"/>
          </a:xfrm>
          <a:prstGeom prst="roundRect">
            <a:avLst>
              <a:gd name="adj" fmla="val 452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9530" y="5304532"/>
            <a:ext cx="4480471" cy="898922"/>
          </a:xfrm>
          <a:prstGeom prst="roundRect">
            <a:avLst>
              <a:gd name="adj" fmla="val 8477"/>
            </a:avLst>
          </a:prstGeom>
          <a:solidFill>
            <a:srgbClr val="0F1B2E"/>
          </a:solidFill>
          <a:ln/>
        </p:spPr>
      </p:sp>
      <p:sp>
        <p:nvSpPr>
          <p:cNvPr id="8" name="Shape 6"/>
          <p:cNvSpPr/>
          <p:nvPr/>
        </p:nvSpPr>
        <p:spPr>
          <a:xfrm>
            <a:off x="1095375" y="2419648"/>
            <a:ext cx="681603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3818" y="5304532"/>
            <a:ext cx="0" cy="898922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5850" y="93345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章 · 代码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171849" y="981075"/>
            <a:ext cx="1301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examples/00_setup.py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行代码调通 LLM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971675" y="2171998"/>
            <a:ext cx="786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00_setup.py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486823" y="2167235"/>
            <a:ext cx="1357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· OpenAI 兼容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5375" y="2567285"/>
            <a:ext cx="7497634" cy="3381375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"DEEPSEEK_API_KEY"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"https://api.deepseek.com"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"deepseek-chat"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=[{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"你好"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349555" y="24053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这是整个生态的 Hello World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349555" y="2738735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相当于 Spring Boot 的启动类——先确认环境、跑通最简调用。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49555" y="3809107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语法要点（Java 类比）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349555" y="4142482"/>
            <a:ext cx="4080421" cy="6667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X import Y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import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f"..."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String.format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chat.completions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链式属性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68605" y="5637907"/>
            <a:ext cx="447798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换通义千问 / 智谱：只改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base_url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即可，代码不变。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10025" y="2062460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34200" y="2062460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8375" y="2062460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" y="3272135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10025" y="3272135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4200" y="3272135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58375" y="3272135"/>
            <a:ext cx="2771775" cy="1057275"/>
          </a:xfrm>
          <a:prstGeom prst="roundRect">
            <a:avLst>
              <a:gd name="adj" fmla="val 720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5850" y="4967585"/>
            <a:ext cx="11544300" cy="1685925"/>
          </a:xfrm>
          <a:prstGeom prst="roundRect">
            <a:avLst>
              <a:gd name="adj" fmla="val 4520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章 · 阶段 A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95674" y="971550"/>
            <a:ext cx="15444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Application 开发基础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个核心术语 · 一页讲完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47775" y="236726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47775" y="2672060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 LLM 的输入文本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171950" y="236726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171950" y="2672060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文本处理单元，非字符非单词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096125" y="236726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7096125" y="2672060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单次请求的有效上下文窗口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0020300" y="236726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Embedding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020300" y="2672060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文本转向量，语义可计算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247775" y="3576935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Retrieval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47775" y="3881735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从知识库召回相关片段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171950" y="3576935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 Calling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4171950" y="3881735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决定调用哪个函数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096125" y="3576935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096125" y="3881735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跨轮对话状态（历史消息）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0020300" y="3576935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020300" y="3881735"/>
            <a:ext cx="2692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+ 工具 + 决策循环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085850" y="463421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的内核 · Tool Calling 四步闭环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261586" y="5329535"/>
            <a:ext cx="262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1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199198" y="5615285"/>
            <a:ext cx="2745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发工具 Schema 给 LLM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890486" y="5453360"/>
            <a:ext cx="2200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119086" y="5329535"/>
            <a:ext cx="262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2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4056698" y="5615285"/>
            <a:ext cx="2745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返回 tool_call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747986" y="5453360"/>
            <a:ext cx="2200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976586" y="5329535"/>
            <a:ext cx="262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3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6914198" y="5615285"/>
            <a:ext cx="2745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应用层真正执行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605486" y="5453360"/>
            <a:ext cx="2200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834086" y="5329535"/>
            <a:ext cx="2620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4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771698" y="5615285"/>
            <a:ext cx="2745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回灌结果生成回答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770573" y="6101060"/>
            <a:ext cx="12174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关键：LLM 不执行工具，它只"决定"调用——执行权在应用层。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6835080" cy="5400675"/>
          </a:xfrm>
          <a:prstGeom prst="roundRect">
            <a:avLst>
              <a:gd name="adj" fmla="val 1411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6816030" cy="34290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5" name="Shape 3"/>
          <p:cNvSpPr/>
          <p:nvPr/>
        </p:nvSpPr>
        <p:spPr>
          <a:xfrm>
            <a:off x="8149530" y="2062460"/>
            <a:ext cx="4480471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9530" y="3357860"/>
            <a:ext cx="4480471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9530" y="4653260"/>
            <a:ext cx="4480471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9530" y="5948660"/>
            <a:ext cx="4480471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9530" y="7244060"/>
            <a:ext cx="4480471" cy="898922"/>
          </a:xfrm>
          <a:prstGeom prst="roundRect">
            <a:avLst>
              <a:gd name="adj" fmla="val 8477"/>
            </a:avLst>
          </a:prstGeom>
          <a:solidFill>
            <a:srgbClr val="0F1B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5375" y="2410123"/>
            <a:ext cx="681603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63818" y="7244060"/>
            <a:ext cx="0" cy="898922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" y="93345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章 · 代码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171849" y="981075"/>
            <a:ext cx="15898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examples/01_llm_basics.py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Calling 四步闭环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971675" y="2167235"/>
            <a:ext cx="1143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01_llm_basics.py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966793" y="2171998"/>
            <a:ext cx="7918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5375" y="2557760"/>
            <a:ext cx="7497634" cy="4752975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把用户问题 + 工具 schema 一起发给 LLM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"deepseek-chat"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=[{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"北京天气？"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WEATHER_TOOL_SCHEMA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LLM 返回的不是答案，而是 tool_call 指令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应用层真正执行工具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(**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回灌结果，让 LLM 生成最终自然语言回答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"user..."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49555" y="2386310"/>
            <a:ext cx="4284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1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349555" y="26720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发工具 Schema 给 LLM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49555" y="3681710"/>
            <a:ext cx="4284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2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349555" y="39674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返回 tool_call 指令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349555" y="4977110"/>
            <a:ext cx="4284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349555" y="52628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应用层真正执行工具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8349555" y="6272510"/>
            <a:ext cx="4284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4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349555" y="65582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回灌结果，生成回答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368605" y="7577435"/>
            <a:ext cx="447798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**args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把 dict 展开成关键字参数——Java 里没有的语法糖。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76250"/>
            <a:ext cx="914400" cy="67627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2000250" y="5536257"/>
            <a:ext cx="1312962" cy="1133475"/>
          </a:xfrm>
          <a:prstGeom prst="roundRect">
            <a:avLst>
              <a:gd name="adj" fmla="val 672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65612" y="5536257"/>
            <a:ext cx="1339900" cy="1133475"/>
          </a:xfrm>
          <a:prstGeom prst="roundRect">
            <a:avLst>
              <a:gd name="adj" fmla="val 672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7911" y="5536257"/>
            <a:ext cx="1528763" cy="1133475"/>
          </a:xfrm>
          <a:prstGeom prst="roundRect">
            <a:avLst>
              <a:gd name="adj" fmla="val 672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39074" y="5536257"/>
            <a:ext cx="1367284" cy="1133475"/>
          </a:xfrm>
          <a:prstGeom prst="roundRect">
            <a:avLst>
              <a:gd name="adj" fmla="val 672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00250" y="1731318"/>
            <a:ext cx="13401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5400"/>
              </a:spcBef>
              <a:spcAft>
                <a:spcPts val="5400"/>
              </a:spcAft>
              <a:buNone/>
            </a:pPr>
            <a:r>
              <a:rPr lang="en-US" sz="5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000250" y="3255318"/>
            <a:ext cx="14039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B · 核心组件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000250" y="4593282"/>
            <a:ext cx="14039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"每个组件解决什么问题" —— 教程主体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238375" y="5822007"/>
            <a:ext cx="878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238375" y="6126807"/>
            <a:ext cx="878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703737" y="5822007"/>
            <a:ext cx="906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703737" y="6126807"/>
            <a:ext cx="9068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5196036" y="5822007"/>
            <a:ext cx="1105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196036" y="6126807"/>
            <a:ext cx="115776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技术体系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877199" y="5822007"/>
            <a:ext cx="935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877199" y="6126807"/>
            <a:ext cx="9355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0353675" y="6543675"/>
            <a:ext cx="21688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Agent 快速扫盲 · 9 / 28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5676900" cy="1327547"/>
          </a:xfrm>
          <a:prstGeom prst="roundRect">
            <a:avLst>
              <a:gd name="adj" fmla="val 574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0" y="2062460"/>
            <a:ext cx="5676900" cy="1327547"/>
          </a:xfrm>
          <a:prstGeom prst="roundRect">
            <a:avLst>
              <a:gd name="adj" fmla="val 574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3951982"/>
            <a:ext cx="3746450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4700" y="3951982"/>
            <a:ext cx="3746450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3551" y="3951982"/>
            <a:ext cx="3746599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5850" y="5109270"/>
            <a:ext cx="3746450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4700" y="5109270"/>
            <a:ext cx="3746450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83551" y="5109270"/>
            <a:ext cx="3746599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5850" y="6266557"/>
            <a:ext cx="3746450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4700" y="6266557"/>
            <a:ext cx="3746450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83551" y="6266557"/>
            <a:ext cx="3746599" cy="1004887"/>
          </a:xfrm>
          <a:prstGeom prst="roundRect">
            <a:avLst>
              <a:gd name="adj" fmla="val 3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5850" y="7500045"/>
            <a:ext cx="11544300" cy="819150"/>
          </a:xfrm>
          <a:prstGeom prst="roundRect">
            <a:avLst>
              <a:gd name="adj" fmla="val 9302"/>
            </a:avLst>
          </a:prstGeom>
          <a:solidFill>
            <a:srgbClr val="0F1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0138" y="7500045"/>
            <a:ext cx="0" cy="81915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章 · 阶段 B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295674" y="981075"/>
            <a:ext cx="62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LangChain：把胶水代码组件化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323975" y="2443460"/>
            <a:ext cx="5720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不用 LangChain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23975" y="2776835"/>
            <a:ext cx="572071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每个项目重写 Prompt / 检索 / 记忆的胶水代码，不可复用、难以维护。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7191375" y="2443460"/>
            <a:ext cx="5720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LangChain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7191375" y="2776835"/>
            <a:ext cx="572071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把组件标准化、可复用、可组合，像搭积木一样拼 LLM 应用。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85850" y="3618607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大组件 · 按职责分类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28725" y="4237732"/>
            <a:ext cx="36337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 Model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228725" y="4542532"/>
            <a:ext cx="3806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 LLM 调用接口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5127575" y="4237732"/>
            <a:ext cx="36337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Template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27575" y="4542532"/>
            <a:ext cx="3806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变量插值复用提示词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9026426" y="4237732"/>
            <a:ext cx="36338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Runnable / Chain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026426" y="4542532"/>
            <a:ext cx="3806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统一抽象与流水线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1228725" y="5395020"/>
            <a:ext cx="36337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Retriever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228725" y="5699820"/>
            <a:ext cx="3806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检索器接口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5127575" y="5395020"/>
            <a:ext cx="36337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Vector Store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127575" y="5699820"/>
            <a:ext cx="3806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向量存储</a:t>
            </a:r>
            <a:endParaRPr lang="en-US" sz="938" dirty="0"/>
          </a:p>
        </p:txBody>
      </p:sp>
      <p:sp>
        <p:nvSpPr>
          <p:cNvPr id="34" name="Text 32"/>
          <p:cNvSpPr/>
          <p:nvPr/>
        </p:nvSpPr>
        <p:spPr>
          <a:xfrm>
            <a:off x="9026426" y="5395020"/>
            <a:ext cx="36338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026426" y="5699820"/>
            <a:ext cx="3806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跨轮对话状态</a:t>
            </a:r>
            <a:endParaRPr lang="en-US" sz="938" dirty="0"/>
          </a:p>
        </p:txBody>
      </p:sp>
      <p:sp>
        <p:nvSpPr>
          <p:cNvPr id="36" name="Text 34"/>
          <p:cNvSpPr/>
          <p:nvPr/>
        </p:nvSpPr>
        <p:spPr>
          <a:xfrm>
            <a:off x="1228725" y="6552307"/>
            <a:ext cx="36337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228725" y="6857107"/>
            <a:ext cx="3806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 → 工具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5127575" y="6552307"/>
            <a:ext cx="36337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5127575" y="6857107"/>
            <a:ext cx="3806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+ Tool 决策循环</a:t>
            </a:r>
            <a:endParaRPr lang="en-US" sz="938" dirty="0"/>
          </a:p>
        </p:txBody>
      </p:sp>
      <p:sp>
        <p:nvSpPr>
          <p:cNvPr id="40" name="Text 38"/>
          <p:cNvSpPr/>
          <p:nvPr/>
        </p:nvSpPr>
        <p:spPr>
          <a:xfrm>
            <a:off x="9026426" y="6552307"/>
            <a:ext cx="36338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Output Parser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9026426" y="6857107"/>
            <a:ext cx="3806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结构化输出</a:t>
            </a:r>
            <a:endParaRPr lang="en-US" sz="938" dirty="0"/>
          </a:p>
        </p:txBody>
      </p:sp>
      <p:sp>
        <p:nvSpPr>
          <p:cNvPr id="42" name="Text 40"/>
          <p:cNvSpPr/>
          <p:nvPr/>
        </p:nvSpPr>
        <p:spPr>
          <a:xfrm>
            <a:off x="1343025" y="7814370"/>
            <a:ext cx="7655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LCEL 精髓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2191345" y="7804845"/>
            <a:ext cx="7396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所有组件都是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Runnable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，用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串联成流水线 —— 类比 Java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Stream.map().filter().collect()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6835080" cy="4186238"/>
          </a:xfrm>
          <a:prstGeom prst="roundRect">
            <a:avLst>
              <a:gd name="adj" fmla="val 1820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6816030" cy="34290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5" name="Shape 3"/>
          <p:cNvSpPr/>
          <p:nvPr/>
        </p:nvSpPr>
        <p:spPr>
          <a:xfrm>
            <a:off x="8149530" y="2062460"/>
            <a:ext cx="4480471" cy="1483519"/>
          </a:xfrm>
          <a:prstGeom prst="roundRect">
            <a:avLst>
              <a:gd name="adj" fmla="val 513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9530" y="3698379"/>
            <a:ext cx="4480471" cy="1483519"/>
          </a:xfrm>
          <a:prstGeom prst="roundRect">
            <a:avLst>
              <a:gd name="adj" fmla="val 513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9530" y="5334298"/>
            <a:ext cx="4480471" cy="1251347"/>
          </a:xfrm>
          <a:prstGeom prst="roundRect">
            <a:avLst>
              <a:gd name="adj" fmla="val 6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9530" y="6738045"/>
            <a:ext cx="4480471" cy="1047750"/>
          </a:xfrm>
          <a:prstGeom prst="roundRect">
            <a:avLst>
              <a:gd name="adj" fmla="val 7273"/>
            </a:avLst>
          </a:prstGeom>
          <a:solidFill>
            <a:srgbClr val="0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2410123"/>
            <a:ext cx="681603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3818" y="6738045"/>
            <a:ext cx="0" cy="104775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" y="93345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171849" y="981075"/>
            <a:ext cx="1937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examples/02_langchain_demo.py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LCEL 管道符 </a:t>
            </a:r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971675" y="2167235"/>
            <a:ext cx="1429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02_langchain_demo.py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469535" y="2171998"/>
            <a:ext cx="2639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LCEL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5375" y="2557760"/>
            <a:ext cx="7497634" cy="3538538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langchain_deepseek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ChatDeepSeek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langchain_core.prompts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langchain_core.output_parsers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from_template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"用一句话解释 {concept}。"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ChatDeepSeek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"deepseek-chat"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★ LCEL：用 | 把 prompt → model → parser 串成一条链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数据流：{concept} → 填模板 → 发 LLM → 解析成纯字符串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"concept"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"RAG"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349555" y="24053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 是什么？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49555" y="2738735"/>
            <a:ext cx="44884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的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被 LangChain 重载为 Runnable 串联（运算符重载）。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349555" y="4041279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统一入口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49555" y="4374654"/>
            <a:ext cx="44884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所有组件共享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invoke / ainvoke / batch / stream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四种调用方式。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349555" y="5677198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换模型只改一处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349555" y="6010573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/ Anthropic / 通义 / DeepSeek 都实现同一抽象。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368605" y="7071420"/>
            <a:ext cx="44779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80% 的"LLM + 提示词 + 检索"场景，默认起点就是 LangChain。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4480471" cy="1327547"/>
          </a:xfrm>
          <a:prstGeom prst="roundRect">
            <a:avLst>
              <a:gd name="adj" fmla="val 574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850" y="3542407"/>
            <a:ext cx="4480471" cy="1327547"/>
          </a:xfrm>
          <a:prstGeom prst="roundRect">
            <a:avLst>
              <a:gd name="adj" fmla="val 574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5022354"/>
            <a:ext cx="4480471" cy="1207294"/>
          </a:xfrm>
          <a:prstGeom prst="roundRect">
            <a:avLst>
              <a:gd name="adj" fmla="val 6312"/>
            </a:avLst>
          </a:prstGeom>
          <a:solidFill>
            <a:srgbClr val="0F1B2E"/>
          </a:solidFill>
          <a:ln/>
        </p:spPr>
      </p:sp>
      <p:sp>
        <p:nvSpPr>
          <p:cNvPr id="6" name="Shape 4"/>
          <p:cNvSpPr/>
          <p:nvPr/>
        </p:nvSpPr>
        <p:spPr>
          <a:xfrm>
            <a:off x="5794921" y="2538710"/>
            <a:ext cx="6835229" cy="1085850"/>
          </a:xfrm>
          <a:prstGeom prst="roundRect">
            <a:avLst>
              <a:gd name="adj" fmla="val 350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4921" y="3738860"/>
            <a:ext cx="6835229" cy="1085850"/>
          </a:xfrm>
          <a:prstGeom prst="roundRect">
            <a:avLst>
              <a:gd name="adj" fmla="val 350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94921" y="4939010"/>
            <a:ext cx="6835229" cy="1085850"/>
          </a:xfrm>
          <a:prstGeom prst="roundRect">
            <a:avLst>
              <a:gd name="adj" fmla="val 350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94921" y="6139160"/>
            <a:ext cx="6835229" cy="1085850"/>
          </a:xfrm>
          <a:prstGeom prst="roundRect">
            <a:avLst>
              <a:gd name="adj" fmla="val 350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850" y="7415510"/>
            <a:ext cx="11544300" cy="809625"/>
          </a:xfrm>
          <a:prstGeom prst="roundRect">
            <a:avLst>
              <a:gd name="adj" fmla="val 9412"/>
            </a:avLst>
          </a:prstGeom>
          <a:solidFill>
            <a:srgbClr val="0F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00138" y="5022354"/>
            <a:ext cx="0" cy="1207294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0138" y="7415510"/>
            <a:ext cx="0" cy="80962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5850" y="933450"/>
            <a:ext cx="159847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章 · 阶段 B · 重点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53308" y="981075"/>
            <a:ext cx="650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LangGraph：为什么 Chain 不够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323975" y="2443460"/>
            <a:ext cx="440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Chain 的局限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23975" y="2776835"/>
            <a:ext cx="440464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Chain 是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单向流水线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；Agent 需要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 + 条件 + 状态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23975" y="3923407"/>
            <a:ext cx="440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 的答案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23975" y="4256782"/>
            <a:ext cx="440464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显式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状态机 + 图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，把 Agent 流程画成可执行的有向图。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43025" y="5393829"/>
            <a:ext cx="4394165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一句话：把 Agent 从"黑盒循环"变成"可中断、可观察的流程"。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794921" y="2205335"/>
            <a:ext cx="7518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个原语 · Java 类比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941606" y="299591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718846" y="2843510"/>
            <a:ext cx="6324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工作流骨架（有向图）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718846" y="3176885"/>
            <a:ext cx="63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 BPMN 流程定义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941606" y="419606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Node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718846" y="4043660"/>
            <a:ext cx="6324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节点 = 一个函数 (state) → 更新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718846" y="4377035"/>
            <a:ext cx="63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类比一个 Service 方法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941606" y="539621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Edge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718846" y="5243810"/>
            <a:ext cx="6324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 = 跳转（含条件边）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718846" y="5577185"/>
            <a:ext cx="63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类比状态机的 transition guard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941606" y="659636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718846" y="6443960"/>
            <a:ext cx="6324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节点间共享状态（显式化）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718846" y="6777335"/>
            <a:ext cx="63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类比流程变量（reducer 控制合并）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343025" y="7725073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人工介入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2066925" y="7720310"/>
            <a:ext cx="61522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interrupt_before=["human_review"]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—— 在指定节点前暂停，等审批后继续。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6835080" cy="4892725"/>
          </a:xfrm>
          <a:prstGeom prst="roundRect">
            <a:avLst>
              <a:gd name="adj" fmla="val 1557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6816030" cy="34290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5" name="Shape 3"/>
          <p:cNvSpPr/>
          <p:nvPr/>
        </p:nvSpPr>
        <p:spPr>
          <a:xfrm>
            <a:off x="8149530" y="2062460"/>
            <a:ext cx="4480471" cy="1483519"/>
          </a:xfrm>
          <a:prstGeom prst="roundRect">
            <a:avLst>
              <a:gd name="adj" fmla="val 513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9530" y="3698379"/>
            <a:ext cx="4480471" cy="1251347"/>
          </a:xfrm>
          <a:prstGeom prst="roundRect">
            <a:avLst>
              <a:gd name="adj" fmla="val 6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9530" y="5102126"/>
            <a:ext cx="4480471" cy="1251347"/>
          </a:xfrm>
          <a:prstGeom prst="roundRect">
            <a:avLst>
              <a:gd name="adj" fmla="val 6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9530" y="6505873"/>
            <a:ext cx="4480471" cy="857250"/>
          </a:xfrm>
          <a:prstGeom prst="roundRect">
            <a:avLst>
              <a:gd name="adj" fmla="val 8889"/>
            </a:avLst>
          </a:prstGeom>
          <a:solidFill>
            <a:srgbClr val="0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2410123"/>
            <a:ext cx="681603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3818" y="6505873"/>
            <a:ext cx="0" cy="85725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" y="93345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171849" y="981075"/>
            <a:ext cx="1958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examples/03_langgraph_demo.py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StateGraph + 条件边 + 人工介入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971675" y="2167235"/>
            <a:ext cx="1429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03_langgraph_demo.py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092404" y="2171998"/>
            <a:ext cx="659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StateGraph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5375" y="2552998"/>
            <a:ext cx="7497634" cy="4254550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AgentState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TypedDict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reducer：追加而非覆盖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AgentState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call_model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call_tool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should_continue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"__end__"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回环 → 循环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interrupt_before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8349555" y="24053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State 显式化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49555" y="2738735"/>
            <a:ext cx="44884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Annotated[list, operator.add]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定义 reducer：消息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累加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而非覆盖。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349555" y="4041279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条件边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49555" y="4374654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should_continue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返回下一节点名——类比状态机 guard。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349555" y="5445026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tools → agent 回环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349555" y="5778401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工具结果回灌再调 LLM，形成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——Chain 做不到的。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368605" y="6839248"/>
            <a:ext cx="44779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interrupt_before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让人工审批成为流程的一部分。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395835"/>
            <a:ext cx="11544300" cy="1100138"/>
          </a:xfrm>
          <a:prstGeom prst="roundRect">
            <a:avLst>
              <a:gd name="adj" fmla="val 692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850" y="3724573"/>
            <a:ext cx="3721001" cy="1343620"/>
          </a:xfrm>
          <a:prstGeom prst="roundRect">
            <a:avLst>
              <a:gd name="adj" fmla="val 567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7351" y="3724573"/>
            <a:ext cx="3721150" cy="1343620"/>
          </a:xfrm>
          <a:prstGeom prst="roundRect">
            <a:avLst>
              <a:gd name="adj" fmla="val 567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09000" y="3724573"/>
            <a:ext cx="3721001" cy="1343620"/>
          </a:xfrm>
          <a:prstGeom prst="roundRect">
            <a:avLst>
              <a:gd name="adj" fmla="val 567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" y="5296793"/>
            <a:ext cx="11544300" cy="1089422"/>
          </a:xfrm>
          <a:prstGeom prst="roundRect">
            <a:avLst>
              <a:gd name="adj" fmla="val 6995"/>
            </a:avLst>
          </a:prstGeom>
          <a:solidFill>
            <a:srgbClr val="0F1B2E"/>
          </a:solidFill>
          <a:ln/>
        </p:spPr>
      </p:sp>
      <p:sp>
        <p:nvSpPr>
          <p:cNvPr id="8" name="Shape 6"/>
          <p:cNvSpPr/>
          <p:nvPr/>
        </p:nvSpPr>
        <p:spPr>
          <a:xfrm>
            <a:off x="1100138" y="5296793"/>
            <a:ext cx="0" cy="1089422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5 章 · 阶段 B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95674" y="971550"/>
            <a:ext cx="8779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技术体系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RAG：让 LLM 用上私有知识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85850" y="206246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步管线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44999" y="2729210"/>
            <a:ext cx="17167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4124" y="3024485"/>
            <a:ext cx="1798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加载文档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2954238" y="2836366"/>
            <a:ext cx="200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46721" y="2729210"/>
            <a:ext cx="17169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Chunk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5842" y="3024485"/>
            <a:ext cx="1798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切分片段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4856113" y="2836366"/>
            <a:ext cx="200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48600" y="2729210"/>
            <a:ext cx="17167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07724" y="3024485"/>
            <a:ext cx="1798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文本转向量</a:t>
            </a:r>
            <a:endParaRPr lang="en-US" sz="938" dirty="0"/>
          </a:p>
        </p:txBody>
      </p:sp>
      <p:sp>
        <p:nvSpPr>
          <p:cNvPr id="21" name="Text 19"/>
          <p:cNvSpPr/>
          <p:nvPr/>
        </p:nvSpPr>
        <p:spPr>
          <a:xfrm>
            <a:off x="6757839" y="2836366"/>
            <a:ext cx="200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50322" y="2729210"/>
            <a:ext cx="17169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VectorDB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9442" y="3024485"/>
            <a:ext cx="1798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向量入库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8659713" y="2836366"/>
            <a:ext cx="200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52196" y="2729210"/>
            <a:ext cx="17169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Retriever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11317" y="3024485"/>
            <a:ext cx="1798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 Top-K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10561588" y="2836366"/>
            <a:ext cx="200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54071" y="2729210"/>
            <a:ext cx="17169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LLM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713192" y="3024485"/>
            <a:ext cx="1798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生成回答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1323975" y="4115098"/>
            <a:ext cx="3569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多路召回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3975" y="4467523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 + BM25 双路，用 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RRF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融合排序，互补召回。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5235476" y="4115098"/>
            <a:ext cx="3569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Rerank 精排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5476" y="4467523"/>
            <a:ext cx="3569390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召回 50 条 → 交叉编码器精排 Top-K，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生产必加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9147125" y="4115098"/>
            <a:ext cx="3569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防幻觉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7125" y="4467523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约束"没有答案就说未找到"，拒绝编造。</a:t>
            </a:r>
            <a:endParaRPr lang="en-US" sz="1088" dirty="0"/>
          </a:p>
        </p:txBody>
      </p:sp>
      <p:sp>
        <p:nvSpPr>
          <p:cNvPr id="36" name="Text 34"/>
          <p:cNvSpPr/>
          <p:nvPr/>
        </p:nvSpPr>
        <p:spPr>
          <a:xfrm>
            <a:off x="1343025" y="5596830"/>
            <a:ext cx="1216437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工具对照：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框架 LangChain RAG / LlamaIndex ｜ 向量库 Chroma / FAISS / Milvus / Qdrant / pgvector ｜ Embedding 用本地 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bge-small-zh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（国产 LLM 不提供 Embedding 接口）。</a:t>
            </a:r>
            <a:endParaRPr lang="en-US" sz="116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6835080" cy="4111228"/>
          </a:xfrm>
          <a:prstGeom prst="roundRect">
            <a:avLst>
              <a:gd name="adj" fmla="val 1853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6816030" cy="34290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5" name="Shape 3"/>
          <p:cNvSpPr/>
          <p:nvPr/>
        </p:nvSpPr>
        <p:spPr>
          <a:xfrm>
            <a:off x="8149530" y="2062460"/>
            <a:ext cx="4480471" cy="1251347"/>
          </a:xfrm>
          <a:prstGeom prst="roundRect">
            <a:avLst>
              <a:gd name="adj" fmla="val 6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9530" y="3466207"/>
            <a:ext cx="4480471" cy="1483519"/>
          </a:xfrm>
          <a:prstGeom prst="roundRect">
            <a:avLst>
              <a:gd name="adj" fmla="val 513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9530" y="5102126"/>
            <a:ext cx="4480471" cy="1251347"/>
          </a:xfrm>
          <a:prstGeom prst="roundRect">
            <a:avLst>
              <a:gd name="adj" fmla="val 6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9530" y="6505873"/>
            <a:ext cx="4480471" cy="1047750"/>
          </a:xfrm>
          <a:prstGeom prst="roundRect">
            <a:avLst>
              <a:gd name="adj" fmla="val 7273"/>
            </a:avLst>
          </a:prstGeom>
          <a:solidFill>
            <a:srgbClr val="0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2410123"/>
            <a:ext cx="681603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3818" y="6505873"/>
            <a:ext cx="0" cy="104775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" y="93345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5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171849" y="981075"/>
            <a:ext cx="1568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examples/04_rag_demo.py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六步管线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971675" y="2167235"/>
            <a:ext cx="1000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04_rag_demo.py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966793" y="2171998"/>
            <a:ext cx="7918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RAG Pipeline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5375" y="2552998"/>
            <a:ext cx="7156832" cy="3473053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Document → Chunk → Embedding → VectorDB → Retriever → LLM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TextLoader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"knowledge.txt"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chunk_overlap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split_documents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SentenceTransformerEmbeddings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model_name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"BAAI/bge-small-zh-v1.5"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vector_db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from_documents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vector_db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as_retriever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search_kwargs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"k"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8349555" y="24053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chunk_size 的权衡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49555" y="2738735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太大丢精度、太小断语义；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chunk_overlap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保证语义连续。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349555" y="3809107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 Embedding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49555" y="4142482"/>
            <a:ext cx="44884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 LLM 不提供 Embedding，故用本地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bge-small-zh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，无需厂商 Key。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349555" y="5445026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防幻觉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349555" y="5778401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第四问"食堂几点开饭"→ 返回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"知识库中未找到"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，不编造。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368605" y="6839248"/>
            <a:ext cx="44779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进阶：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BM25Retriever + EnsembleRetriever(RRF)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多路召回，再加 Rerank 精排。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5676900" cy="1343620"/>
          </a:xfrm>
          <a:prstGeom prst="roundRect">
            <a:avLst>
              <a:gd name="adj" fmla="val 567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0" y="2062460"/>
            <a:ext cx="5676900" cy="1343620"/>
          </a:xfrm>
          <a:prstGeom prst="roundRect">
            <a:avLst>
              <a:gd name="adj" fmla="val 567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3968055"/>
            <a:ext cx="11544300" cy="866775"/>
          </a:xfrm>
          <a:prstGeom prst="roundRect">
            <a:avLst>
              <a:gd name="adj" fmla="val 879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5396805"/>
            <a:ext cx="3721001" cy="1226344"/>
          </a:xfrm>
          <a:prstGeom prst="roundRect">
            <a:avLst>
              <a:gd name="adj" fmla="val 6214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7351" y="5396805"/>
            <a:ext cx="3721150" cy="1226344"/>
          </a:xfrm>
          <a:prstGeom prst="roundRect">
            <a:avLst>
              <a:gd name="adj" fmla="val 6214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09000" y="5396805"/>
            <a:ext cx="3721001" cy="1226344"/>
          </a:xfrm>
          <a:prstGeom prst="roundRect">
            <a:avLst>
              <a:gd name="adj" fmla="val 6214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6 章 · 阶段 B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95674" y="971550"/>
            <a:ext cx="169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 与检索增强进阶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LlamaIndex 与 LangChain 怎么分工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23975" y="2452985"/>
            <a:ext cx="5720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 · 通用编排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3975" y="2805410"/>
            <a:ext cx="572071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 Prompt / 检索 / 记忆 / 工具全链路，组件多而全。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7191375" y="2452985"/>
            <a:ext cx="5720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 · RAG 专用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91375" y="2805410"/>
            <a:ext cx="572071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专注知识索引与检索，抽象更贴合 RAG 场景，可混用。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085850" y="363468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核心抽象 · 两阶段（索引建库 / 查询实时）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06185" y="4330005"/>
            <a:ext cx="17467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945190" y="4301430"/>
            <a:ext cx="180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17432" y="4330005"/>
            <a:ext cx="1746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Node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56589" y="4301430"/>
            <a:ext cx="180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8835" y="4330005"/>
            <a:ext cx="17467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Index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767840" y="4301430"/>
            <a:ext cx="180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0082" y="4330005"/>
            <a:ext cx="1746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Retriever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679240" y="4301430"/>
            <a:ext cx="180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851482" y="4330005"/>
            <a:ext cx="1746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Postprocessor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0590639" y="4301430"/>
            <a:ext cx="180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762882" y="4330005"/>
            <a:ext cx="1746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QueryEngine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085850" y="506343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多路召回 · 三种形态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285875" y="5739705"/>
            <a:ext cx="3653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路由 Router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285875" y="6073080"/>
            <a:ext cx="3653046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按问题类型分发到不同索引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97376" y="5739705"/>
            <a:ext cx="3653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 RRF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197376" y="6073080"/>
            <a:ext cx="365321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多路结果融合排序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09025" y="5739705"/>
            <a:ext cx="3653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子问题分解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109025" y="6073080"/>
            <a:ext cx="3653046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拆成子问题分别检索再汇总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76250"/>
            <a:ext cx="914400" cy="67627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2000250" y="5536257"/>
            <a:ext cx="836116" cy="1133475"/>
          </a:xfrm>
          <a:prstGeom prst="roundRect">
            <a:avLst>
              <a:gd name="adj" fmla="val 9114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88766" y="5536257"/>
            <a:ext cx="800249" cy="1133475"/>
          </a:xfrm>
          <a:prstGeom prst="roundRect">
            <a:avLst>
              <a:gd name="adj" fmla="val 952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41415" y="5536257"/>
            <a:ext cx="1115467" cy="1133475"/>
          </a:xfrm>
          <a:prstGeom prst="roundRect">
            <a:avLst>
              <a:gd name="adj" fmla="val 6831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09282" y="5536257"/>
            <a:ext cx="1313111" cy="1133475"/>
          </a:xfrm>
          <a:prstGeom prst="roundRect">
            <a:avLst>
              <a:gd name="adj" fmla="val 672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4793" y="5536257"/>
            <a:ext cx="1123950" cy="1133475"/>
          </a:xfrm>
          <a:prstGeom prst="roundRect">
            <a:avLst>
              <a:gd name="adj" fmla="val 678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0250" y="1731318"/>
            <a:ext cx="13401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5400"/>
              </a:spcBef>
              <a:spcAft>
                <a:spcPts val="5400"/>
              </a:spcAft>
              <a:buNone/>
            </a:pPr>
            <a:r>
              <a:rPr lang="en-US" sz="5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000250" y="3255318"/>
            <a:ext cx="14039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C · 工程化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000250" y="4593282"/>
            <a:ext cx="14039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"怎么接系统、能协作、跑得稳、怎么选型"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38375" y="5822007"/>
            <a:ext cx="377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38375" y="6126807"/>
            <a:ext cx="377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226891" y="5822007"/>
            <a:ext cx="3401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226891" y="6126807"/>
            <a:ext cx="340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A2A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179540" y="5822007"/>
            <a:ext cx="671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179540" y="6126807"/>
            <a:ext cx="6711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5447407" y="5822007"/>
            <a:ext cx="878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447407" y="6126807"/>
            <a:ext cx="878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Skill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912918" y="5822007"/>
            <a:ext cx="680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912918" y="6126807"/>
            <a:ext cx="7124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框架选型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0279559" y="6543675"/>
            <a:ext cx="22503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Agent 快速扫盲 · 17 / 28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5676900" cy="1402556"/>
          </a:xfrm>
          <a:prstGeom prst="roundRect">
            <a:avLst>
              <a:gd name="adj" fmla="val 543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0" y="2062460"/>
            <a:ext cx="5676900" cy="1402556"/>
          </a:xfrm>
          <a:prstGeom prst="roundRect">
            <a:avLst>
              <a:gd name="adj" fmla="val 543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4026991"/>
            <a:ext cx="3721001" cy="1324570"/>
          </a:xfrm>
          <a:prstGeom prst="roundRect">
            <a:avLst>
              <a:gd name="adj" fmla="val 575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7351" y="4026991"/>
            <a:ext cx="3721150" cy="1324570"/>
          </a:xfrm>
          <a:prstGeom prst="roundRect">
            <a:avLst>
              <a:gd name="adj" fmla="val 575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09000" y="4026991"/>
            <a:ext cx="3721001" cy="1324570"/>
          </a:xfrm>
          <a:prstGeom prst="roundRect">
            <a:avLst>
              <a:gd name="adj" fmla="val 575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5850" y="5580162"/>
            <a:ext cx="11544300" cy="809625"/>
          </a:xfrm>
          <a:prstGeom prst="roundRect">
            <a:avLst>
              <a:gd name="adj" fmla="val 9412"/>
            </a:avLst>
          </a:prstGeom>
          <a:solidFill>
            <a:srgbClr val="0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1100138" y="5580162"/>
            <a:ext cx="0" cy="809625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7 章 · 阶段 C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295674" y="971550"/>
            <a:ext cx="19003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MCP（Model Context Protocol）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MCP：N×M → N+M 的适配地狱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23975" y="2452985"/>
            <a:ext cx="5720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出现前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3975" y="2805410"/>
            <a:ext cx="572071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Agent 自己接工具，N 个 Agent × M 个系统 = 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N×M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份适配代码。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7191375" y="2452985"/>
            <a:ext cx="5720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MCP 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91375" y="2805410"/>
            <a:ext cx="572071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标准化 "LLM ↔ 工具" 协议，N 个 Agent + M 个系统 = 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N+M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份实现。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85850" y="3693616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三件套 · 类比 gRPC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23975" y="4417516"/>
            <a:ext cx="34069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Server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3975" y="4750891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暴露工具的服务端（stdio / SSE / WebSocket）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5235476" y="4417516"/>
            <a:ext cx="3407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5476" y="4750891"/>
            <a:ext cx="3569390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发现并调用工具的客户端（通常是 Agent）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9147125" y="4417516"/>
            <a:ext cx="34069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7125" y="4750891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被暴露的具体能力（docstring 自动转 description）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1343025" y="5889724"/>
            <a:ext cx="1891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LangChain Tool 的区别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215134" y="5884962"/>
            <a:ext cx="61723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是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跨进程 / 跨语言 / 可复用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的标准协议——一个 Server 可被多个 Agent 共享。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6835080" cy="3857625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6816030" cy="34290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5" name="Shape 3"/>
          <p:cNvSpPr/>
          <p:nvPr/>
        </p:nvSpPr>
        <p:spPr>
          <a:xfrm>
            <a:off x="8149530" y="2062460"/>
            <a:ext cx="4480471" cy="1483519"/>
          </a:xfrm>
          <a:prstGeom prst="roundRect">
            <a:avLst>
              <a:gd name="adj" fmla="val 513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9530" y="3698379"/>
            <a:ext cx="4480471" cy="1483519"/>
          </a:xfrm>
          <a:prstGeom prst="roundRect">
            <a:avLst>
              <a:gd name="adj" fmla="val 513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9530" y="5334298"/>
            <a:ext cx="4480471" cy="1222772"/>
          </a:xfrm>
          <a:prstGeom prst="roundRect">
            <a:avLst>
              <a:gd name="adj" fmla="val 623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9530" y="6709470"/>
            <a:ext cx="4480471" cy="857250"/>
          </a:xfrm>
          <a:prstGeom prst="roundRect">
            <a:avLst>
              <a:gd name="adj" fmla="val 8889"/>
            </a:avLst>
          </a:prstGeom>
          <a:solidFill>
            <a:srgbClr val="0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2410123"/>
            <a:ext cx="681603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3818" y="6709470"/>
            <a:ext cx="0" cy="85725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" y="93345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7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171849" y="981075"/>
            <a:ext cx="16550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examples/06_mcp_server.py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@mcp.tool() 一行暴露工具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971675" y="2167235"/>
            <a:ext cx="1143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06_mcp_server.py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280970" y="2171998"/>
            <a:ext cx="46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FastMCP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5375" y="2557760"/>
            <a:ext cx="7497634" cy="3209925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mcp.server.fastmcp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"enterprise-db-tools"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query_employee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"""根据员工 ID 查询员工信息。"""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f"员工 {emp_id} 不存在"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侧：发现 + 调用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list_tools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call_tool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"query_employee"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"emp_id"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"E001"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349555" y="2405360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装饰器即注册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349555" y="2738735"/>
            <a:ext cx="44884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@mcp.tool()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把普通函数变成 Agent 可调工具（Java 注解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@RpcMethod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349555" y="4041279"/>
            <a:ext cx="4488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docstring 工程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49555" y="4374654"/>
            <a:ext cx="44884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 docstring 自动转 Tool 描述、类型提示自动转 JSON Schema。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349555" y="5677198"/>
            <a:ext cx="4284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async / await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349555" y="5981998"/>
            <a:ext cx="44884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异步调用，类比 WebFlux 的响应式，第 8 章详解。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368605" y="7042845"/>
            <a:ext cx="44779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一个 Agent 接公司 N 个内部系统，不必每个手写适配。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11544300" cy="1352550"/>
          </a:xfrm>
          <a:prstGeom prst="roundRect">
            <a:avLst>
              <a:gd name="adj" fmla="val 5634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850" y="3976985"/>
            <a:ext cx="3721001" cy="1610320"/>
          </a:xfrm>
          <a:prstGeom prst="roundRect">
            <a:avLst>
              <a:gd name="adj" fmla="val 473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7351" y="3976985"/>
            <a:ext cx="3721150" cy="1610320"/>
          </a:xfrm>
          <a:prstGeom prst="roundRect">
            <a:avLst>
              <a:gd name="adj" fmla="val 473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09000" y="3976985"/>
            <a:ext cx="3721001" cy="1610320"/>
          </a:xfrm>
          <a:prstGeom prst="roundRect">
            <a:avLst>
              <a:gd name="adj" fmla="val 4732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" y="5815905"/>
            <a:ext cx="11544300" cy="933450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/>
        </p:spPr>
      </p:sp>
      <p:sp>
        <p:nvSpPr>
          <p:cNvPr id="8" name="Shape 6"/>
          <p:cNvSpPr/>
          <p:nvPr/>
        </p:nvSpPr>
        <p:spPr>
          <a:xfrm>
            <a:off x="1100138" y="5815905"/>
            <a:ext cx="0" cy="93345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" y="93345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8 章 · 阶段 C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95674" y="971550"/>
            <a:ext cx="13854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A2A（Agent To Agent）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A2A：多 Agent 怎么协作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85875" y="2405360"/>
            <a:ext cx="1225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为什么单 Agent 不够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85875" y="2881610"/>
            <a:ext cx="3974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任务太复杂，单点难解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051375" y="2881610"/>
            <a:ext cx="3974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角色太多，职责难合一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816876" y="2881610"/>
            <a:ext cx="39745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上下文太长，超出窗口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085850" y="364361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要解决的三大问题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23975" y="4367510"/>
            <a:ext cx="34069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3975" y="4700885"/>
            <a:ext cx="3569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通信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323975" y="4986635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之间怎么可靠地收发消息。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5235476" y="4367510"/>
            <a:ext cx="3407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5476" y="4700885"/>
            <a:ext cx="3569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35476" y="4986635"/>
            <a:ext cx="3569390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怎么找到"谁能干什么"，动态注册能力。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9147125" y="4367510"/>
            <a:ext cx="34069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Task Delegation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7125" y="4700885"/>
            <a:ext cx="3569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任务委派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147125" y="4986635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任务怎么拆分、派给谁、如何汇总。</a:t>
            </a:r>
            <a:endParaRPr lang="en-US" sz="1088" dirty="0"/>
          </a:p>
        </p:txBody>
      </p:sp>
      <p:sp>
        <p:nvSpPr>
          <p:cNvPr id="26" name="Text 24"/>
          <p:cNvSpPr/>
          <p:nvPr/>
        </p:nvSpPr>
        <p:spPr>
          <a:xfrm>
            <a:off x="1343025" y="6158805"/>
            <a:ext cx="12164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典型流程：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→ Coding → Testing 各司其职 ｜ 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一句话：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 Agent 是"微服务化"在 Agent 层的重演，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3-4 个为宜，别为了拆而拆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11544300" cy="952500"/>
          </a:xfrm>
          <a:prstGeom prst="roundRect">
            <a:avLst>
              <a:gd name="adj" fmla="val 8000"/>
            </a:avLst>
          </a:prstGeom>
          <a:solidFill>
            <a:srgbClr val="0F1B2E"/>
          </a:solidFill>
          <a:ln/>
        </p:spPr>
      </p:sp>
      <p:sp>
        <p:nvSpPr>
          <p:cNvPr id="4" name="Shape 2"/>
          <p:cNvSpPr/>
          <p:nvPr/>
        </p:nvSpPr>
        <p:spPr>
          <a:xfrm>
            <a:off x="1085850" y="36150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10025" y="36150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0" y="36150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58375" y="36150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5850" y="49104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10025" y="49104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4200" y="49104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58375" y="4910435"/>
            <a:ext cx="2771775" cy="1143000"/>
          </a:xfrm>
          <a:prstGeom prst="roundRect">
            <a:avLst>
              <a:gd name="adj" fmla="val 6667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5850" y="6320135"/>
            <a:ext cx="11544300" cy="839986"/>
          </a:xfrm>
          <a:prstGeom prst="roundRect">
            <a:avLst>
              <a:gd name="adj" fmla="val 9072"/>
            </a:avLst>
          </a:prstGeom>
          <a:solidFill>
            <a:srgbClr val="0F1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0138" y="2062460"/>
            <a:ext cx="0" cy="95250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0138" y="6320135"/>
            <a:ext cx="0" cy="839986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5850" y="933450"/>
            <a:ext cx="200709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9 章 · 阶段 C · 上生产关键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024783" y="981075"/>
            <a:ext cx="1214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 Engineering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Harness：让 Agent 稳定上生产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81125" y="2424410"/>
            <a:ext cx="1208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= LLM + Harness</a:t>
            </a:r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 Harness 的 Agent，只是 demo。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85850" y="328166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个子能力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285875" y="39579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Context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85875" y="42722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上下文窗口管理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210050" y="39579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Memory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210050" y="42722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长期记忆存储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134225" y="39579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 Runtime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7134225" y="42722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工具沙箱执行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0058400" y="39579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Permission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058400" y="42722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权限与审批护栏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85875" y="52533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Eval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285875" y="55676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评估回归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210050" y="52533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Monitor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210050" y="55676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可观测与告警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134225" y="5253335"/>
            <a:ext cx="2490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Feedback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7134225" y="5567660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反馈闭环优化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0542925" y="5248573"/>
            <a:ext cx="1402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真实案例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74804" y="5562898"/>
            <a:ext cx="1338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Code / Codex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343025" y="6620173"/>
            <a:ext cx="121643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Code 的 Harness 形态 = 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 + 工具沙箱 + 上下文管理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——这也是 Codex 等 Coding Agent 背后的工程底座。</a:t>
            </a:r>
            <a:endParaRPr lang="en-US" sz="116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395835"/>
            <a:ext cx="3721001" cy="1629370"/>
          </a:xfrm>
          <a:prstGeom prst="roundRect">
            <a:avLst>
              <a:gd name="adj" fmla="val 46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97351" y="2395835"/>
            <a:ext cx="3721150" cy="1629370"/>
          </a:xfrm>
          <a:prstGeom prst="roundRect">
            <a:avLst>
              <a:gd name="adj" fmla="val 46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09000" y="2395835"/>
            <a:ext cx="3721001" cy="1629370"/>
          </a:xfrm>
          <a:prstGeom prst="roundRect">
            <a:avLst>
              <a:gd name="adj" fmla="val 46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4291905"/>
            <a:ext cx="11544300" cy="1714500"/>
          </a:xfrm>
          <a:prstGeom prst="roundRect">
            <a:avLst>
              <a:gd name="adj" fmla="val 4444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" y="6606480"/>
            <a:ext cx="2771775" cy="771525"/>
          </a:xfrm>
          <a:prstGeom prst="roundRect">
            <a:avLst>
              <a:gd name="adj" fmla="val 98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10025" y="6606480"/>
            <a:ext cx="2771775" cy="771525"/>
          </a:xfrm>
          <a:prstGeom prst="roundRect">
            <a:avLst>
              <a:gd name="adj" fmla="val 98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4200" y="6606480"/>
            <a:ext cx="2771775" cy="771525"/>
          </a:xfrm>
          <a:prstGeom prst="roundRect">
            <a:avLst>
              <a:gd name="adj" fmla="val 98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58375" y="6606480"/>
            <a:ext cx="2771775" cy="771525"/>
          </a:xfrm>
          <a:prstGeom prst="roundRect">
            <a:avLst>
              <a:gd name="adj" fmla="val 9877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" y="933450"/>
            <a:ext cx="128087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10 章 · 阶段 C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364581" y="981075"/>
            <a:ext cx="614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Skill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Skill：把专家经验封装成能力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85850" y="206246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三层递进 · Java 类比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323975" y="2786360"/>
            <a:ext cx="3569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 · 方法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3975" y="3138785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一个函数，最小执行单元。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1323975" y="3501330"/>
            <a:ext cx="3569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类比：一个方法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235476" y="2786360"/>
            <a:ext cx="3569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· 注释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5476" y="3138785"/>
            <a:ext cx="3569390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一段文本指令，指导如何做。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5235476" y="3501330"/>
            <a:ext cx="3569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类比：一段注释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147125" y="2786360"/>
            <a:ext cx="3569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 · 能力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7125" y="3138785"/>
            <a:ext cx="3569226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+ Tool + 说明 + 触发条件。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9147125" y="3501330"/>
            <a:ext cx="3569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类比：带文档的 Spring Bean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323975" y="4672905"/>
            <a:ext cx="12174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 的组成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258316" y="5158680"/>
            <a:ext cx="2757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Prompt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192657" y="5473005"/>
            <a:ext cx="2889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做什么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985662" y="5277743"/>
            <a:ext cx="1168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072209" y="5158680"/>
            <a:ext cx="2757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006550" y="5473005"/>
            <a:ext cx="2889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用什么做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799555" y="5277743"/>
            <a:ext cx="1168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20443" y="5149155"/>
            <a:ext cx="2889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说明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820443" y="5482530"/>
            <a:ext cx="2889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怎么用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613449" y="5277743"/>
            <a:ext cx="1168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34337" y="5149155"/>
            <a:ext cx="2889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触发条件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634337" y="5482530"/>
            <a:ext cx="2889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何时用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85850" y="6273105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 Skill 清单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186577" y="691128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Coding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4110752" y="691128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Database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7034927" y="691128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Testing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959102" y="6911280"/>
            <a:ext cx="2570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Deployment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395835"/>
            <a:ext cx="3721001" cy="1276350"/>
          </a:xfrm>
          <a:prstGeom prst="roundRect">
            <a:avLst>
              <a:gd name="adj" fmla="val 597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97351" y="2395835"/>
            <a:ext cx="3721150" cy="1276350"/>
          </a:xfrm>
          <a:prstGeom prst="roundRect">
            <a:avLst>
              <a:gd name="adj" fmla="val 597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09000" y="2395835"/>
            <a:ext cx="3721001" cy="1276350"/>
          </a:xfrm>
          <a:prstGeom prst="roundRect">
            <a:avLst>
              <a:gd name="adj" fmla="val 5970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4234160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72300" y="4234160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5850" y="4777085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72300" y="4777085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850" y="5320010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2300" y="5320010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5850" y="5862935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72300" y="5862935"/>
            <a:ext cx="5657850" cy="428625"/>
          </a:xfrm>
          <a:prstGeom prst="roundRect">
            <a:avLst>
              <a:gd name="adj" fmla="val 8889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" y="933450"/>
            <a:ext cx="127334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11 章 · 阶段 C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357735" y="971550"/>
            <a:ext cx="14982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主流框架选型与生态进阶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框架选型：先问需求，再选框架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85850" y="2062460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决策三问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23975" y="2767310"/>
            <a:ext cx="34069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23975" y="3081635"/>
            <a:ext cx="3569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 Agent 还是多 Agent？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5476" y="2767310"/>
            <a:ext cx="34071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35476" y="3081635"/>
            <a:ext cx="3569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 RAG 还是重流程编排？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7125" y="2767310"/>
            <a:ext cx="34069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7125" y="3081635"/>
            <a:ext cx="3569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是否跨语言栈（.NET / Java）？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5850" y="3900785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框架速查表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285875" y="4357985"/>
            <a:ext cx="10217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 Agent / 通用</a:t>
            </a:r>
            <a:endParaRPr lang="en-US" sz="1088" dirty="0"/>
          </a:p>
        </p:txBody>
      </p:sp>
      <p:sp>
        <p:nvSpPr>
          <p:cNvPr id="26" name="Text 24"/>
          <p:cNvSpPr/>
          <p:nvPr/>
        </p:nvSpPr>
        <p:spPr>
          <a:xfrm>
            <a:off x="4924276" y="4367510"/>
            <a:ext cx="17003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 / LangGraph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7172325" y="4357985"/>
            <a:ext cx="12410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 Agent 角色扮演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11937802" y="4367510"/>
            <a:ext cx="5169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CrewAI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285875" y="4900910"/>
            <a:ext cx="10891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 Agent 对话式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5940475" y="4910435"/>
            <a:ext cx="633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AutoGen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7172325" y="4900910"/>
            <a:ext cx="12073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 OpenAI 风格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11062097" y="4910435"/>
            <a:ext cx="14364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Agents SDK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285875" y="5443835"/>
            <a:ext cx="10634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提示词优化编译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6170414" y="5453360"/>
            <a:ext cx="3919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DSPy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7172325" y="5443835"/>
            <a:ext cx="7596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跨语言企业</a:t>
            </a:r>
            <a:endParaRPr lang="en-US" sz="1088" dirty="0"/>
          </a:p>
        </p:txBody>
      </p:sp>
      <p:sp>
        <p:nvSpPr>
          <p:cNvPr id="36" name="Text 34"/>
          <p:cNvSpPr/>
          <p:nvPr/>
        </p:nvSpPr>
        <p:spPr>
          <a:xfrm>
            <a:off x="11310491" y="5453360"/>
            <a:ext cx="1175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Semantic Kernel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285875" y="5986760"/>
            <a:ext cx="6753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专用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5010894" y="5996285"/>
            <a:ext cx="16094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BBF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 / Haystack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8696325" y="5986760"/>
            <a:ext cx="24307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框架是手段不是目的，别被营销带偏</a:t>
            </a:r>
            <a:endParaRPr lang="en-US" sz="108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76250"/>
            <a:ext cx="914400" cy="676275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2000250" y="5312420"/>
            <a:ext cx="2070646" cy="1581150"/>
          </a:xfrm>
          <a:prstGeom prst="roundRect">
            <a:avLst>
              <a:gd name="adj" fmla="val 481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3296" y="5312420"/>
            <a:ext cx="2108895" cy="1581150"/>
          </a:xfrm>
          <a:prstGeom prst="roundRect">
            <a:avLst>
              <a:gd name="adj" fmla="val 481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00250" y="1507480"/>
            <a:ext cx="13401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5400"/>
              </a:spcBef>
              <a:spcAft>
                <a:spcPts val="5400"/>
              </a:spcAft>
              <a:buNone/>
            </a:pPr>
            <a:r>
              <a:rPr lang="en-US" sz="5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000250" y="3031480"/>
            <a:ext cx="14039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D · 架构实战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00250" y="4369445"/>
            <a:ext cx="14039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"如何组合形成 Agent 应用"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276475" y="5636270"/>
            <a:ext cx="1594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76475" y="5960120"/>
            <a:ext cx="1670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 Agent 架构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276475" y="6379220"/>
            <a:ext cx="16700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六层架构 · 每层职责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99521" y="5636270"/>
            <a:ext cx="16342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499521" y="5960120"/>
            <a:ext cx="17120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综合案例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4499521" y="6379220"/>
            <a:ext cx="17120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知识库 Agent · 研发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79559" y="6543675"/>
            <a:ext cx="22503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Agent 快速扫盲 · 24 / 28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11544300" cy="4267200"/>
          </a:xfrm>
          <a:prstGeom prst="roundRect">
            <a:avLst>
              <a:gd name="adj" fmla="val 1786"/>
            </a:avLst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375" y="2071985"/>
            <a:ext cx="11525250" cy="676275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5" name="Shape 3"/>
          <p:cNvSpPr/>
          <p:nvPr/>
        </p:nvSpPr>
        <p:spPr>
          <a:xfrm>
            <a:off x="1095375" y="2748260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6" name="Shape 4"/>
          <p:cNvSpPr/>
          <p:nvPr/>
        </p:nvSpPr>
        <p:spPr>
          <a:xfrm>
            <a:off x="1095375" y="3462635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7" name="Shape 5"/>
          <p:cNvSpPr/>
          <p:nvPr/>
        </p:nvSpPr>
        <p:spPr>
          <a:xfrm>
            <a:off x="1095375" y="4177010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8" name="Shape 6"/>
          <p:cNvSpPr/>
          <p:nvPr/>
        </p:nvSpPr>
        <p:spPr>
          <a:xfrm>
            <a:off x="1095375" y="4891385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9" name="Shape 7"/>
          <p:cNvSpPr/>
          <p:nvPr/>
        </p:nvSpPr>
        <p:spPr>
          <a:xfrm>
            <a:off x="1095375" y="5605760"/>
            <a:ext cx="11525250" cy="714375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0" name="Shape 8"/>
          <p:cNvSpPr/>
          <p:nvPr/>
        </p:nvSpPr>
        <p:spPr>
          <a:xfrm>
            <a:off x="1085850" y="6596360"/>
            <a:ext cx="11544300" cy="1343025"/>
          </a:xfrm>
          <a:prstGeom prst="roundRect">
            <a:avLst>
              <a:gd name="adj" fmla="val 5674"/>
            </a:avLst>
          </a:prstGeom>
          <a:solidFill>
            <a:srgbClr val="0F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95375" y="2753023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5375" y="3467398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375" y="4181773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5375" y="4896148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375" y="5610523"/>
            <a:ext cx="1152525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0138" y="6596360"/>
            <a:ext cx="0" cy="1343025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850" y="933450"/>
            <a:ext cx="128087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12 章 · 阶段 D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364581" y="971550"/>
            <a:ext cx="1112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 Agent 架构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企业级 Agent 六层架构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23975" y="2319635"/>
            <a:ext cx="4261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层级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97673" y="2319635"/>
            <a:ext cx="79137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职责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23975" y="3014960"/>
            <a:ext cx="42610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 / 业务系统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197673" y="3014960"/>
            <a:ext cx="7913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入口，触发 Agent 任务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323975" y="3729335"/>
            <a:ext cx="4067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Application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197673" y="3729335"/>
            <a:ext cx="7913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编排、状态、循环、人工介入（LangGraph / CrewAI）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323975" y="4443710"/>
            <a:ext cx="4067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/ Skill / MCP / A2A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97673" y="4443710"/>
            <a:ext cx="7913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 + 能力 + 工具协议 + 多 Agent 通信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323975" y="5158085"/>
            <a:ext cx="4067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197673" y="5158085"/>
            <a:ext cx="7913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运行时 / 记忆 / 权限 / 评估 / 监控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323975" y="5872460"/>
            <a:ext cx="42610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Knowledge RAG / 企业系统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5197673" y="5872460"/>
            <a:ext cx="7913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私有知识检索 + 对接既有业务系统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381125" y="6977360"/>
            <a:ext cx="120805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"Agent 应用 </a:t>
            </a:r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≠</a:t>
            </a:r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一个 LLM 调用"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81125" y="7415510"/>
            <a:ext cx="120805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它是 LLM + 工具 + 知识 + 记忆 + 治理层的系统工程，能向架构评审会讲清每一层为什么存在。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062460"/>
            <a:ext cx="5657850" cy="2466975"/>
          </a:xfrm>
          <a:prstGeom prst="roundRect">
            <a:avLst>
              <a:gd name="adj" fmla="val 3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72300" y="2062460"/>
            <a:ext cx="5657850" cy="2466975"/>
          </a:xfrm>
          <a:prstGeom prst="roundRect">
            <a:avLst>
              <a:gd name="adj" fmla="val 3089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4758035"/>
            <a:ext cx="11544300" cy="1343025"/>
          </a:xfrm>
          <a:prstGeom prst="roundRect">
            <a:avLst>
              <a:gd name="adj" fmla="val 5674"/>
            </a:avLst>
          </a:prstGeom>
          <a:solidFill>
            <a:srgbClr val="0F1B2E"/>
          </a:solidFill>
          <a:ln/>
        </p:spPr>
      </p:sp>
      <p:sp>
        <p:nvSpPr>
          <p:cNvPr id="6" name="Shape 4"/>
          <p:cNvSpPr/>
          <p:nvPr/>
        </p:nvSpPr>
        <p:spPr>
          <a:xfrm>
            <a:off x="1100138" y="4758035"/>
            <a:ext cx="0" cy="1343025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5850" y="933450"/>
            <a:ext cx="128087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13 章 · 阶段 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364581" y="971550"/>
            <a:ext cx="5448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综合案例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85850" y="1285875"/>
            <a:ext cx="12698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两个端到端案例串起前 12 章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362075" y="2519660"/>
            <a:ext cx="5955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 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017812" y="2519660"/>
            <a:ext cx="1614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企业知识库 Agent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62075" y="3072110"/>
            <a:ext cx="53606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+ LangChain + RAG + Chroma + MCP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62075" y="3386435"/>
            <a:ext cx="5105400" cy="723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问制度 → 调 </a:t>
            </a:r>
            <a:pPr algn="l" indent="0" marL="0">
              <a:buNone/>
            </a:pPr>
            <a:r>
              <a:rPr lang="en-US" sz="97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search_policy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问员工 → 调 </a:t>
            </a:r>
            <a:pPr algn="l" indent="0" marL="0">
              <a:buNone/>
            </a:pPr>
            <a:r>
              <a:rPr lang="en-US" sz="97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query_employee_db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偏 </a:t>
            </a:r>
            <a:pPr algn="l" indent="0" marL="0">
              <a:buNone/>
            </a:pPr>
            <a:r>
              <a:rPr lang="en-US" sz="112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 + 检索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7248525" y="2519660"/>
            <a:ext cx="5955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 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904262" y="2519660"/>
            <a:ext cx="14156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软件研发 Agent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248525" y="3072110"/>
            <a:ext cx="53606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+ LangGraph + Skill + Tool Calling + Harness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48525" y="3386435"/>
            <a:ext cx="5105400" cy="723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测试失败 → 回环 coding 节点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带人工审批的研发流水线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偏 </a:t>
            </a:r>
            <a:pPr algn="l" indent="0" marL="0">
              <a:buNone/>
            </a:pPr>
            <a:r>
              <a:rPr lang="en-US" sz="112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 + 工具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43025" y="5129510"/>
            <a:ext cx="121643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选型原则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43025" y="5472410"/>
            <a:ext cx="12164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检索为主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LangChain + RAG ｜ 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流程复杂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LangGraph。两个案例分别对应两类最典型的 Agent 需求。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135386"/>
            <a:ext cx="11544300" cy="1409700"/>
          </a:xfrm>
          <a:prstGeom prst="roundRect">
            <a:avLst>
              <a:gd name="adj" fmla="val 5405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850" y="3735586"/>
            <a:ext cx="11544300" cy="1409700"/>
          </a:xfrm>
          <a:prstGeom prst="roundRect">
            <a:avLst>
              <a:gd name="adj" fmla="val 5405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5335786"/>
            <a:ext cx="11544300" cy="1409700"/>
          </a:xfrm>
          <a:prstGeom prst="roundRect">
            <a:avLst>
              <a:gd name="adj" fmla="val 5405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7050286"/>
            <a:ext cx="11544300" cy="967978"/>
          </a:xfrm>
          <a:prstGeom prst="roundRect">
            <a:avLst>
              <a:gd name="adj" fmla="val 7872"/>
            </a:avLst>
          </a:prstGeom>
          <a:solidFill>
            <a:srgbClr val="0F1B2E"/>
          </a:solidFill>
          <a:ln/>
        </p:spPr>
      </p:sp>
      <p:sp>
        <p:nvSpPr>
          <p:cNvPr id="7" name="Shape 5"/>
          <p:cNvSpPr/>
          <p:nvPr/>
        </p:nvSpPr>
        <p:spPr>
          <a:xfrm>
            <a:off x="1100138" y="7050286"/>
            <a:ext cx="0" cy="967978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" y="933450"/>
            <a:ext cx="523875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回顾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85850" y="1323975"/>
            <a:ext cx="12698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三个核心问题 · 一图收束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23975" y="2668786"/>
            <a:ext cx="330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66900" y="2554486"/>
            <a:ext cx="11577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生态是什么？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866900" y="2973586"/>
            <a:ext cx="115776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1-2 章 → 说出 5 层技术栈、8 个基础术语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323975" y="4268986"/>
            <a:ext cx="330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866900" y="4154686"/>
            <a:ext cx="11577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每个组件解决什么问题？为什么需要它？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866900" y="4573786"/>
            <a:ext cx="115776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3-11 章 → 逐个说清"痛点 → 方案 → 何时用"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323975" y="5869186"/>
            <a:ext cx="330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866900" y="5754886"/>
            <a:ext cx="11577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如何组合形成 Agent 应用？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866900" y="6173986"/>
            <a:ext cx="115776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12-13 章 → 画出企业级架构，跑通两个端到端案例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81125" y="7402711"/>
            <a:ext cx="12080558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读完全教程，你应该能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自己画一张企业级 Agent 架构图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，并说出每一层为什么存在。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" y="2468761"/>
            <a:ext cx="2771775" cy="1428750"/>
          </a:xfrm>
          <a:prstGeom prst="roundRect">
            <a:avLst>
              <a:gd name="adj" fmla="val 533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10025" y="2468761"/>
            <a:ext cx="2771775" cy="1428750"/>
          </a:xfrm>
          <a:prstGeom prst="roundRect">
            <a:avLst>
              <a:gd name="adj" fmla="val 533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34200" y="2468761"/>
            <a:ext cx="2771775" cy="1428750"/>
          </a:xfrm>
          <a:prstGeom prst="roundRect">
            <a:avLst>
              <a:gd name="adj" fmla="val 533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8375" y="2468761"/>
            <a:ext cx="2771775" cy="1428750"/>
          </a:xfrm>
          <a:prstGeom prst="roundRect">
            <a:avLst>
              <a:gd name="adj" fmla="val 5333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" y="4497586"/>
            <a:ext cx="5715000" cy="438150"/>
          </a:xfrm>
          <a:prstGeom prst="roundRect">
            <a:avLst>
              <a:gd name="adj" fmla="val 869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15150" y="4497586"/>
            <a:ext cx="5715000" cy="438150"/>
          </a:xfrm>
          <a:prstGeom prst="roundRect">
            <a:avLst>
              <a:gd name="adj" fmla="val 869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5850" y="5050036"/>
            <a:ext cx="5715000" cy="438150"/>
          </a:xfrm>
          <a:prstGeom prst="roundRect">
            <a:avLst>
              <a:gd name="adj" fmla="val 869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15150" y="5050036"/>
            <a:ext cx="5715000" cy="438150"/>
          </a:xfrm>
          <a:prstGeom prst="roundRect">
            <a:avLst>
              <a:gd name="adj" fmla="val 8696"/>
            </a:avLst>
          </a:prstGeom>
          <a:solidFill>
            <a:srgbClr val="111C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5850" y="5792986"/>
            <a:ext cx="11544300" cy="1504950"/>
          </a:xfrm>
          <a:prstGeom prst="roundRect">
            <a:avLst>
              <a:gd name="adj" fmla="val 5063"/>
            </a:avLst>
          </a:prstGeom>
          <a:solidFill>
            <a:srgbClr val="0F1B2E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" y="933450"/>
            <a:ext cx="660083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323975"/>
            <a:ext cx="12698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学习路径与推荐资料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85850" y="2135386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四周实战路线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85875" y="2792611"/>
            <a:ext cx="249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1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285875" y="3078361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跑通所有 examples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85875" y="3411736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熟悉工具链手感 · 5h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210050" y="2792611"/>
            <a:ext cx="249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210050" y="3078361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文档问答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210050" y="3411736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掌握 RAG 全流程 · 10h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134225" y="2792611"/>
            <a:ext cx="249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3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134225" y="3078361"/>
            <a:ext cx="24903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 Agent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134225" y="3383161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掌握状态机编排 · 10h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0058400" y="2792611"/>
            <a:ext cx="249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4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0058400" y="3078361"/>
            <a:ext cx="24903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+ Skill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0058400" y="3383161"/>
            <a:ext cx="2608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工具协议与能力封装 · 8h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085850" y="4164211"/>
            <a:ext cx="1269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推荐资料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285875" y="4640461"/>
            <a:ext cx="8757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LangChain：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2119908" y="4640461"/>
            <a:ext cx="16497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python.langchain.com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115175" y="4640461"/>
            <a:ext cx="9007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LangGraph：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7973020" y="4640461"/>
            <a:ext cx="26393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langchain-ai.github.io/langgraph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285875" y="5192911"/>
            <a:ext cx="8616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规范：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2069157" y="5192911"/>
            <a:ext cx="18971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modelcontextprotocol.io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7115175" y="5192911"/>
            <a:ext cx="9257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LlamaIndex：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7996833" y="5192911"/>
            <a:ext cx="14847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docs.llamaindex.ai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400175" y="6240661"/>
            <a:ext cx="369413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 · Q&amp;A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00175" y="6726436"/>
            <a:ext cx="36941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完整教程正文与可运行代码见 chapters/ 与 examples/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0270034" y="6454973"/>
            <a:ext cx="22503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Agent 快速扫盲 · 28 / 28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2026-08-18T02:40:56Z</dcterms:created>
  <dcterms:modified xsi:type="dcterms:W3CDTF">2026-08-18T02:40:56Z</dcterms:modified>
</cp:coreProperties>
</file>