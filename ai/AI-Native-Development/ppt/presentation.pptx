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3716000" cy="7715250"/>
  <p:notesSz cx="7715250" cy="1371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0248900" y="2647801"/>
            <a:ext cx="114300" cy="1143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648200" y="5143649"/>
            <a:ext cx="76200" cy="76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1487537"/>
            <a:ext cx="400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&lt;/&gt;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485900" y="1597075"/>
            <a:ext cx="254250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TRAINING DECK · 2026</a:t>
            </a:r>
            <a:endParaRPr lang="en-US" sz="1125" dirty="0"/>
          </a:p>
        </p:txBody>
      </p:sp>
      <p:sp>
        <p:nvSpPr>
          <p:cNvPr id="8" name="Text 6"/>
          <p:cNvSpPr/>
          <p:nvPr/>
        </p:nvSpPr>
        <p:spPr>
          <a:xfrm>
            <a:off x="990600" y="2607022"/>
            <a:ext cx="15087600" cy="1358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47"/>
              </a:lnSpc>
              <a:spcBef>
                <a:spcPts val="3116"/>
              </a:spcBef>
              <a:spcAft>
                <a:spcPts val="3116"/>
              </a:spcAft>
              <a:buNone/>
            </a:pPr>
            <a:r>
              <a:rPr lang="en-US" sz="46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AI Agent
</a:t>
            </a:r>
            <a:pPr algn="l" indent="0" marL="0">
              <a:lnSpc>
                <a:spcPts val="5347"/>
              </a:lnSpc>
              <a:spcBef>
                <a:spcPts val="3116"/>
              </a:spcBef>
              <a:spcAft>
                <a:spcPts val="3116"/>
              </a:spcAft>
              <a:buNone/>
            </a:pPr>
            <a:r>
              <a:rPr lang="en-US" sz="4650" b="1" dirty="0">
                <a:solidFill>
                  <a:srgbClr val="1D4ED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开发前沿技术</a:t>
            </a:r>
            <a:pPr algn="l" indent="0" marL="0">
              <a:lnSpc>
                <a:spcPts val="5347"/>
              </a:lnSpc>
              <a:spcBef>
                <a:spcPts val="3116"/>
              </a:spcBef>
              <a:spcAft>
                <a:spcPts val="3116"/>
              </a:spcAft>
              <a:buNone/>
            </a:pPr>
            <a:r>
              <a:rPr lang="en-US" sz="46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快速扫盲</a:t>
            </a:r>
            <a:endParaRPr lang="en-US" sz="4650" dirty="0"/>
          </a:p>
        </p:txBody>
      </p:sp>
      <p:sp>
        <p:nvSpPr>
          <p:cNvPr id="9" name="Text 7"/>
          <p:cNvSpPr/>
          <p:nvPr/>
        </p:nvSpPr>
        <p:spPr>
          <a:xfrm>
            <a:off x="990600" y="4627513"/>
            <a:ext cx="15087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100"/>
              </a:spcBef>
              <a:spcAft>
                <a:spcPts val="1725"/>
              </a:spcAft>
              <a:buNone/>
            </a:pPr>
            <a:r>
              <a:rPr lang="en-US" sz="17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面向 Java 后端工程师的生态认知教程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990600" y="5246638"/>
            <a:ext cx="150876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建立一张 Python AI Engineering 技术地图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0600" y="6056263"/>
            <a:ext cx="1017471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073920" y="6056263"/>
            <a:ext cx="1040755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179415" y="6056263"/>
            <a:ext cx="643518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906589" y="6056263"/>
            <a:ext cx="651331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41205" y="6056263"/>
            <a:ext cx="604763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A2A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1470" y="6056263"/>
            <a:ext cx="596793" cy="323850"/>
          </a:xfrm>
          <a:prstGeom prst="rect">
            <a:avLst/>
          </a:prstGeom>
          <a:noFill/>
          <a:ln/>
        </p:spPr>
        <p:txBody>
          <a:bodyPr wrap="square" lIns="152400" tIns="76200" rIns="152400" bIns="7620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DB2777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Skill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876425"/>
            <a:ext cx="4013150" cy="2371725"/>
          </a:xfrm>
          <a:prstGeom prst="roundRect">
            <a:avLst>
              <a:gd name="adj" fmla="val 321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27550" y="1876425"/>
            <a:ext cx="4013150" cy="2371725"/>
          </a:xfrm>
          <a:prstGeom prst="roundRect">
            <a:avLst>
              <a:gd name="adj" fmla="val 321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69301" y="1876425"/>
            <a:ext cx="4013299" cy="2371725"/>
          </a:xfrm>
          <a:prstGeom prst="roundRect">
            <a:avLst>
              <a:gd name="adj" fmla="val 321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4591050"/>
            <a:ext cx="12496800" cy="1231106"/>
          </a:xfrm>
          <a:prstGeom prst="roundRect">
            <a:avLst>
              <a:gd name="adj" fmla="val 6190"/>
            </a:avLst>
          </a:prstGeom>
          <a:solidFill>
            <a:srgbClr val="EFF6FF"/>
          </a:solidFill>
          <a:ln/>
        </p:spPr>
      </p:sp>
      <p:sp>
        <p:nvSpPr>
          <p:cNvPr id="7" name="Shape 5"/>
          <p:cNvSpPr/>
          <p:nvPr/>
        </p:nvSpPr>
        <p:spPr>
          <a:xfrm>
            <a:off x="700088" y="4591050"/>
            <a:ext cx="0" cy="1231106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609600"/>
            <a:ext cx="796290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课程定位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85800" y="1000125"/>
            <a:ext cx="1374648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49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这门课是什么 / 不是什么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62025" y="2486025"/>
            <a:ext cx="3460700" cy="1333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3 年以上 Java 后端经验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能读 Python，不熟 asyncio / decorator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用过 ChatGPT，没搭过 LLM 应用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不需要机器学习 / 数学背景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03775" y="2486025"/>
            <a:ext cx="3460700" cy="1333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 不是 Python 语法课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 不是机器学习原理课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 不训练模型，不碰梯度下降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✕ 不设固定时长，按需跳读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445526" y="2486025"/>
            <a:ext cx="3460849" cy="13335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生态认知教程：建立技术地图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看懂组件边界与数据流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知道何时用 / 何时别用</a:t>
            </a:r>
            <a:endParaRPr lang="en-US" sz="1200" dirty="0"/>
          </a:p>
          <a:p>
            <a:pPr algn="l" marL="190500" indent="-190500">
              <a:lnSpc>
                <a:spcPts val="1950"/>
              </a:lnSpc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✓ 学完能画出企业级架构图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1075" y="4800600"/>
            <a:ext cx="20455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"/>
              </a:spcBef>
              <a:buNone/>
            </a:pPr>
            <a:r>
              <a:rPr lang="en-US" sz="1500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8291" y="4943475"/>
            <a:ext cx="12746370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 Java 工程师的关键提示：把 </a:t>
            </a:r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当作"通过 HTTP 调用的、会推理的外部服务"</a:t>
            </a:r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 把 </a:t>
            </a:r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当作"用 LLM 做决策、会调用工具的 Spring Service"</a:t>
            </a:r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 剩下的问题只是"用什么框架把这两件事拼起来"。</a:t>
            </a:r>
            <a:endParaRPr lang="en-US" sz="1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887736"/>
            <a:ext cx="2981325" cy="2724150"/>
          </a:xfrm>
          <a:prstGeom prst="roundRect">
            <a:avLst>
              <a:gd name="adj" fmla="val 279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925" y="2687836"/>
            <a:ext cx="250507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25" y="1887736"/>
            <a:ext cx="2981325" cy="2724150"/>
          </a:xfrm>
          <a:prstGeom prst="roundRect">
            <a:avLst>
              <a:gd name="adj" fmla="val 279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95750" y="2687836"/>
            <a:ext cx="250507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7029450" y="1887736"/>
            <a:ext cx="2981325" cy="2724150"/>
          </a:xfrm>
          <a:prstGeom prst="roundRect">
            <a:avLst>
              <a:gd name="adj" fmla="val 279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67575" y="2687836"/>
            <a:ext cx="250507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10201275" y="1887736"/>
            <a:ext cx="2981325" cy="2724150"/>
          </a:xfrm>
          <a:prstGeom prst="roundRect">
            <a:avLst>
              <a:gd name="adj" fmla="val 279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39400" y="2687836"/>
            <a:ext cx="2505075" cy="952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1" name="Shape 9"/>
          <p:cNvSpPr/>
          <p:nvPr/>
        </p:nvSpPr>
        <p:spPr>
          <a:xfrm>
            <a:off x="685800" y="4916686"/>
            <a:ext cx="4038600" cy="771525"/>
          </a:xfrm>
          <a:prstGeom prst="roundRect">
            <a:avLst>
              <a:gd name="adj" fmla="val 4938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14900" y="4916686"/>
            <a:ext cx="4038600" cy="771525"/>
          </a:xfrm>
          <a:prstGeom prst="roundRect">
            <a:avLst>
              <a:gd name="adj" fmla="val 4938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0" y="4916686"/>
            <a:ext cx="4038600" cy="771525"/>
          </a:xfrm>
          <a:prstGeom prst="roundRect">
            <a:avLst>
              <a:gd name="adj" fmla="val 4938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609600"/>
            <a:ext cx="796290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章节地图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85800" y="1019175"/>
            <a:ext cx="137464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49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四阶段 13 章 · 三大核心问题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23925" y="2849761"/>
            <a:ext cx="2505075" cy="4953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Python AI 生态概览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02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LLM 应用开发基础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095750" y="2849761"/>
            <a:ext cx="2505075" cy="108585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LangChain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LangGraph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05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RAG 技术体系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06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LlamaIndex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7267575" y="2849761"/>
            <a:ext cx="2505075" cy="138112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07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MCP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08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A2A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Harness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10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Agent Skill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框架选型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0439400" y="2849761"/>
            <a:ext cx="2505075" cy="495300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12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企业级架构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13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综合案例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923925" y="5145286"/>
            <a:ext cx="1429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Q1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1170533" y="5078611"/>
            <a:ext cx="1794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AI 生态是什么？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3925" y="5345311"/>
            <a:ext cx="39185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第 1-2 章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153025" y="5145286"/>
            <a:ext cx="1429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0891B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Q2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399633" y="5078611"/>
            <a:ext cx="1844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每个组件解决什么问题？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53025" y="5345311"/>
            <a:ext cx="39185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第 3-11 章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9382125" y="5145286"/>
            <a:ext cx="14298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C3AE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Q3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9628733" y="5078611"/>
            <a:ext cx="20357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如何组合形成 Agent 应用？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382125" y="5345311"/>
            <a:ext cx="39185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 第 12-13 章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914400" cy="771525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4955232"/>
            <a:ext cx="2323356" cy="1076325"/>
          </a:xfrm>
          <a:prstGeom prst="roundRect">
            <a:avLst>
              <a:gd name="adj" fmla="val 708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075956" y="4955232"/>
            <a:ext cx="2442121" cy="1076325"/>
          </a:xfrm>
          <a:prstGeom prst="roundRect">
            <a:avLst>
              <a:gd name="adj" fmla="val 708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2674293"/>
            <a:ext cx="150876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486"/>
              </a:spcAft>
              <a:buNone/>
            </a:pPr>
            <a:r>
              <a:rPr lang="en-US" sz="4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阶段 A · 认知地基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600200" y="4012257"/>
            <a:ext cx="150876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回答 "Python AI 生态是什么"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662410"/>
            <a:ext cx="2981325" cy="1481138"/>
          </a:xfrm>
          <a:prstGeom prst="roundRect">
            <a:avLst>
              <a:gd name="adj" fmla="val 514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57625" y="1662410"/>
            <a:ext cx="2981325" cy="1481138"/>
          </a:xfrm>
          <a:prstGeom prst="roundRect">
            <a:avLst>
              <a:gd name="adj" fmla="val 514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29450" y="1662410"/>
            <a:ext cx="2981325" cy="1481138"/>
          </a:xfrm>
          <a:prstGeom prst="roundRect">
            <a:avLst>
              <a:gd name="adj" fmla="val 514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01275" y="1662410"/>
            <a:ext cx="2981325" cy="1481138"/>
          </a:xfrm>
          <a:prstGeom prst="roundRect">
            <a:avLst>
              <a:gd name="adj" fmla="val 514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3715048"/>
            <a:ext cx="12496800" cy="2571750"/>
          </a:xfrm>
          <a:prstGeom prst="roundRect">
            <a:avLst>
              <a:gd name="adj" fmla="val 2963"/>
            </a:avLst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5325" y="3724573"/>
            <a:ext cx="12477750" cy="40957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9" name="Shape 7"/>
          <p:cNvSpPr/>
          <p:nvPr/>
        </p:nvSpPr>
        <p:spPr>
          <a:xfrm>
            <a:off x="695325" y="4134148"/>
            <a:ext cx="1247775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95325" y="4562773"/>
            <a:ext cx="1247775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95325" y="4991398"/>
            <a:ext cx="1247775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Shape 10"/>
          <p:cNvSpPr/>
          <p:nvPr/>
        </p:nvSpPr>
        <p:spPr>
          <a:xfrm>
            <a:off x="695325" y="5420023"/>
            <a:ext cx="1247775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95325" y="5848648"/>
            <a:ext cx="1247775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2"/>
          <p:cNvSpPr/>
          <p:nvPr/>
        </p:nvSpPr>
        <p:spPr>
          <a:xfrm>
            <a:off x="695325" y="4138910"/>
            <a:ext cx="12477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5325" y="4567535"/>
            <a:ext cx="12477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5325" y="4996160"/>
            <a:ext cx="12477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95325" y="5424785"/>
            <a:ext cx="12477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5325" y="5853410"/>
            <a:ext cx="12477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533400"/>
            <a:ext cx="120507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 章 · 阶段 A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895624" y="571500"/>
            <a:ext cx="116578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AI 生态概览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85800" y="885825"/>
            <a:ext cx="13746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为什么 AI 项目都用 Python</a:t>
            </a:r>
            <a:endParaRPr lang="en-US" sz="2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:\workspace\处理\trainning\ai\AI-Native-Development\ppt\frontend\dist-slides\assets\images\diagram-01_python_ai_ecosyste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8924" y="1631156"/>
            <a:ext cx="1550404" cy="57334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3400"/>
            <a:ext cx="1272853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 章 · 架构图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957239" y="571500"/>
            <a:ext cx="11854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AI 生态概览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85800" y="904875"/>
            <a:ext cx="1374648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117"/>
              </a:spcAft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 AI 生态全景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85800" y="7498259"/>
            <a:ext cx="1374648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五层技术栈：从 Web 框架到工具协议，对应 Java 工程师熟悉的组件</a:t>
            </a:r>
            <a:endParaRPr lang="en-US" sz="11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729085"/>
            <a:ext cx="7406580" cy="4038600"/>
          </a:xfrm>
          <a:prstGeom prst="roundRect">
            <a:avLst>
              <a:gd name="adj" fmla="val 188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5325" y="1738610"/>
            <a:ext cx="7387530" cy="3524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320980" y="1729085"/>
            <a:ext cx="4861471" cy="1117997"/>
          </a:xfrm>
          <a:prstGeom prst="roundRect">
            <a:avLst>
              <a:gd name="adj" fmla="val 681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0980" y="2999482"/>
            <a:ext cx="4861471" cy="1638300"/>
          </a:xfrm>
          <a:prstGeom prst="roundRect">
            <a:avLst>
              <a:gd name="adj" fmla="val 465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0980" y="4790182"/>
            <a:ext cx="4861471" cy="908447"/>
          </a:xfrm>
          <a:prstGeom prst="roundRect">
            <a:avLst>
              <a:gd name="adj" fmla="val 8388"/>
            </a:avLst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695325" y="2086273"/>
            <a:ext cx="73875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35268" y="4790182"/>
            <a:ext cx="0" cy="908447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33400"/>
            <a:ext cx="1136645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 章 · 代码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833414" y="571500"/>
            <a:ext cx="13668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examples/00_setup.py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行代码调通 LLM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1571625" y="1838623"/>
            <a:ext cx="7863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00_setup.py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658273" y="1833860"/>
            <a:ext cx="13574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 · OpenAI 兼容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5325" y="2233910"/>
            <a:ext cx="8126284" cy="3381375"/>
          </a:xfrm>
          <a:prstGeom prst="rect">
            <a:avLst/>
          </a:prstGeom>
          <a:noFill/>
          <a:ln/>
        </p:spPr>
        <p:txBody>
          <a:bodyPr wrap="square" lIns="228600" tIns="190500" rIns="228600" bIns="190500" rtlCol="0" anchor="t"/>
          <a:lstStyle/>
          <a:p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OpenAI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api_key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getenv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"DEEPSEEK_API_KEY"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base_url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"https://api.deepseek.com"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completions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"deepseek-chat"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=[{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"你好"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}],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
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response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choices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</a:t>
            </a:r>
            <a:pPr algn="l" indent="0" marL="0">
              <a:lnSpc>
                <a:spcPts val="1969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521005" y="2272010"/>
            <a:ext cx="490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相当于 Spring Boot 的启动类——先确认环境、跑通最简调用。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521005" y="3542407"/>
            <a:ext cx="4461421" cy="75247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975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from X import Y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import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975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f"..."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String.format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975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chat.completions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链式属性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540055" y="5123557"/>
            <a:ext cx="4897085" cy="241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换通义千问 / 智谱：只改 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base_url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即可，代码不变。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729085"/>
            <a:ext cx="3009900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8100" y="1729085"/>
            <a:ext cx="3009900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10400" y="1729085"/>
            <a:ext cx="3009900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72700" y="1729085"/>
            <a:ext cx="3009900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624435"/>
            <a:ext cx="3009900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8100" y="2624435"/>
            <a:ext cx="3009900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10400" y="2624435"/>
            <a:ext cx="3009900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72700" y="2624435"/>
            <a:ext cx="3009900" cy="742950"/>
          </a:xfrm>
          <a:prstGeom prst="roundRect">
            <a:avLst>
              <a:gd name="adj" fmla="val 102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986510"/>
            <a:ext cx="12496800" cy="1352550"/>
          </a:xfrm>
          <a:prstGeom prst="roundRect">
            <a:avLst>
              <a:gd name="adj" fmla="val 5634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33400"/>
            <a:ext cx="1254844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2 章 · 阶段 A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940868" y="571500"/>
            <a:ext cx="15884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Application 开发基础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个核心术语 · 一页讲完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322898" y="4777085"/>
            <a:ext cx="132226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2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关键：LLM 不执行工具，它只"决定"调用——执行权在应用层。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:\workspace\处理\trainning\ai\AI-Native-Development\ppt\frontend\dist-slides\assets\images\diagram-02_llm_app_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157" y="3061614"/>
            <a:ext cx="12015936" cy="28725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3400"/>
            <a:ext cx="1272853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2 章 · 架构图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957239" y="571500"/>
            <a:ext cx="15884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LLM Application 开发基础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85800" y="904875"/>
            <a:ext cx="1374648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117"/>
              </a:spcAft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LLM 应用数据流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85800" y="7498259"/>
            <a:ext cx="1374648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User → Application → LLM → Tools / Knowledge / Memory 的完整闭环</a:t>
            </a:r>
            <a:endParaRPr lang="en-US" sz="11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729085"/>
            <a:ext cx="7406580" cy="5400675"/>
          </a:xfrm>
          <a:prstGeom prst="roundRect">
            <a:avLst>
              <a:gd name="adj" fmla="val 1411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5325" y="1738610"/>
            <a:ext cx="7387530" cy="3429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320980" y="1729085"/>
            <a:ext cx="4861471" cy="781050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0980" y="2662535"/>
            <a:ext cx="4861471" cy="781050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0980" y="3595985"/>
            <a:ext cx="4861471" cy="781050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0980" y="4529435"/>
            <a:ext cx="4861471" cy="781050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20980" y="5462885"/>
            <a:ext cx="4861471" cy="908447"/>
          </a:xfrm>
          <a:prstGeom prst="roundRect">
            <a:avLst>
              <a:gd name="adj" fmla="val 8388"/>
            </a:avLst>
          </a:prstGeom>
          <a:solidFill>
            <a:srgbClr val="EFF6FF"/>
          </a:solidFill>
          <a:ln/>
        </p:spPr>
      </p:sp>
      <p:sp>
        <p:nvSpPr>
          <p:cNvPr id="10" name="Shape 8"/>
          <p:cNvSpPr/>
          <p:nvPr/>
        </p:nvSpPr>
        <p:spPr>
          <a:xfrm>
            <a:off x="695325" y="2076748"/>
            <a:ext cx="73875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35268" y="5462885"/>
            <a:ext cx="0" cy="908447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33400"/>
            <a:ext cx="1136645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2 章 · 代码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33414" y="571500"/>
            <a:ext cx="16709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examples/01_llm_basics.py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Tool Calling 四步闭环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1571625" y="1833860"/>
            <a:ext cx="11437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01_llm_basics.py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7138243" y="1838623"/>
            <a:ext cx="7918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95325" y="2224385"/>
            <a:ext cx="8126284" cy="4752975"/>
          </a:xfrm>
          <a:prstGeom prst="rect">
            <a:avLst/>
          </a:prstGeom>
          <a:noFill/>
          <a:ln/>
        </p:spPr>
        <p:txBody>
          <a:bodyPr wrap="square" lIns="228600" tIns="190500" rIns="228600" bIns="190500" rtlCol="0" anchor="t"/>
          <a:lstStyle/>
          <a:p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把用户问题 + 工具 schema 一起发给 LLM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"deepseek-chat"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=[{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"北京天气？"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}],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WEATHER_TOOL_SCHEMA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LLM 返回的不是答案，而是 tool_call 指令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choices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tool_calls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arguments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应用层真正执行工具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get_weather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(**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args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回灌结果，让 LLM 生成最终自然语言回答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completions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"user..."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"role"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"content"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}],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540055" y="5796260"/>
            <a:ext cx="4897085" cy="241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**args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把 dict 展开成关键字参数——Java 里没有的语法糖。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914400" cy="771525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5160020"/>
            <a:ext cx="1324719" cy="762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077319" y="5160020"/>
            <a:ext cx="1350764" cy="762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80483" y="5160020"/>
            <a:ext cx="1486049" cy="762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8932" y="5160020"/>
            <a:ext cx="1411635" cy="762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2783830"/>
            <a:ext cx="150876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486"/>
              </a:spcAft>
              <a:buNone/>
            </a:pPr>
            <a:r>
              <a:rPr lang="en-US" sz="4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阶段 B · 核心组件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600200" y="4188470"/>
            <a:ext cx="1508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回答 "每个组件解决什么问题" —— 教程主体</a:t>
            </a:r>
            <a:endParaRPr lang="en-US" sz="1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662410"/>
            <a:ext cx="6153150" cy="1184672"/>
          </a:xfrm>
          <a:prstGeom prst="roundRect">
            <a:avLst>
              <a:gd name="adj" fmla="val 64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29450" y="1662410"/>
            <a:ext cx="6153150" cy="1184672"/>
          </a:xfrm>
          <a:prstGeom prst="roundRect">
            <a:avLst>
              <a:gd name="adj" fmla="val 6432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380482"/>
            <a:ext cx="4063901" cy="619125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02101" y="3380482"/>
            <a:ext cx="4064050" cy="619125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18550" y="3380482"/>
            <a:ext cx="4063901" cy="619125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4152007"/>
            <a:ext cx="4063901" cy="619125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902101" y="4152007"/>
            <a:ext cx="4064050" cy="619125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18550" y="4152007"/>
            <a:ext cx="4063901" cy="619125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4923532"/>
            <a:ext cx="4063901" cy="619125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02101" y="4923532"/>
            <a:ext cx="4064050" cy="619125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18550" y="4923532"/>
            <a:ext cx="4063901" cy="619125"/>
          </a:xfrm>
          <a:prstGeom prst="roundRect">
            <a:avLst>
              <a:gd name="adj" fmla="val 615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5771257"/>
            <a:ext cx="12496800" cy="819150"/>
          </a:xfrm>
          <a:prstGeom prst="roundRect">
            <a:avLst>
              <a:gd name="adj" fmla="val 9302"/>
            </a:avLst>
          </a:prstGeom>
          <a:solidFill>
            <a:srgbClr val="EFF6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00088" y="5771257"/>
            <a:ext cx="0" cy="819150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533400"/>
            <a:ext cx="120507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3 章 · 阶段 B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1895624" y="581025"/>
            <a:ext cx="628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685800" y="885825"/>
            <a:ext cx="13746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LangChain：把胶水代码组件化</a:t>
            </a:r>
            <a:endParaRPr lang="en-US" sz="2850" dirty="0"/>
          </a:p>
        </p:txBody>
      </p:sp>
      <p:sp>
        <p:nvSpPr>
          <p:cNvPr id="19" name="Text 17"/>
          <p:cNvSpPr/>
          <p:nvPr/>
        </p:nvSpPr>
        <p:spPr>
          <a:xfrm>
            <a:off x="923925" y="2233910"/>
            <a:ext cx="624459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每个项目重写 Prompt / 检索 / 记忆的胶水代码，不可复用、难以维护。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7267575" y="2233910"/>
            <a:ext cx="624459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把组件标准化、可复用、可组合，像搭积木一样拼 LLM 应用。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942975" y="6085582"/>
            <a:ext cx="76551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LCEL 精髓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1791295" y="6076057"/>
            <a:ext cx="73962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所有组件都是 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Runnable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，用 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50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串联成流水线 —— 类比 Java 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580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Stream.map().filter().collect()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:\workspace\处理\trainning\ai\AI-Native-Development\ppt\frontend\dist-slides\assets\images\diagram-03_lang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4819" y="1573857"/>
            <a:ext cx="4978612" cy="5733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3400"/>
            <a:ext cx="120507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3 章 · 架构图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895624" y="581025"/>
            <a:ext cx="6289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85800" y="885825"/>
            <a:ext cx="13746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117"/>
              </a:spcAft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LangChain 组件关系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85800" y="7441109"/>
            <a:ext cx="1374648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Model / Prompt / Chain / Retriever / … 围绕 Runnable 统一抽象组合</a:t>
            </a:r>
            <a:endParaRPr lang="en-US" sz="11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662410"/>
            <a:ext cx="7406580" cy="4186238"/>
          </a:xfrm>
          <a:prstGeom prst="roundRect">
            <a:avLst>
              <a:gd name="adj" fmla="val 182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5325" y="1671935"/>
            <a:ext cx="7387530" cy="3429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320980" y="1662410"/>
            <a:ext cx="4861471" cy="1108472"/>
          </a:xfrm>
          <a:prstGeom prst="roundRect">
            <a:avLst>
              <a:gd name="adj" fmla="val 687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0980" y="2923282"/>
            <a:ext cx="4861471" cy="1340644"/>
          </a:xfrm>
          <a:prstGeom prst="roundRect">
            <a:avLst>
              <a:gd name="adj" fmla="val 568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0980" y="4416326"/>
            <a:ext cx="4861471" cy="1108472"/>
          </a:xfrm>
          <a:prstGeom prst="roundRect">
            <a:avLst>
              <a:gd name="adj" fmla="val 687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0980" y="5677198"/>
            <a:ext cx="4861471" cy="857250"/>
          </a:xfrm>
          <a:prstGeom prst="roundRect">
            <a:avLst>
              <a:gd name="adj" fmla="val 8889"/>
            </a:avLst>
          </a:prstGeom>
          <a:solidFill>
            <a:srgbClr val="EFF6FF"/>
          </a:solidFill>
          <a:ln/>
        </p:spPr>
      </p:sp>
      <p:sp>
        <p:nvSpPr>
          <p:cNvPr id="9" name="Shape 7"/>
          <p:cNvSpPr/>
          <p:nvPr/>
        </p:nvSpPr>
        <p:spPr>
          <a:xfrm>
            <a:off x="695325" y="2010073"/>
            <a:ext cx="73875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35268" y="5677198"/>
            <a:ext cx="0" cy="85725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33400"/>
            <a:ext cx="1068869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3 章 · 代码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771799" y="581025"/>
            <a:ext cx="193711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examples/02_langchain_demo.py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85800" y="885825"/>
            <a:ext cx="13746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LCEL 管道符 </a:t>
            </a:r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891B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|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571625" y="1767185"/>
            <a:ext cx="14297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02_langchain_demo.py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640985" y="1771948"/>
            <a:ext cx="2639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LCEL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5325" y="2157710"/>
            <a:ext cx="8126284" cy="3538538"/>
          </a:xfrm>
          <a:prstGeom prst="rect">
            <a:avLst/>
          </a:prstGeom>
          <a:noFill/>
          <a:ln/>
        </p:spPr>
        <p:txBody>
          <a:bodyPr wrap="square" lIns="228600" tIns="190500" rIns="228600" bIns="190500" rtlCol="0" anchor="t"/>
          <a:lstStyle/>
          <a:p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langchain_deepseek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ChatDeepSeek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langchain_core.prompts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ChatPromptTemplate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langchain_core.output_parsers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StrOutputParser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ChatPromptTemplate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from_template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"用一句话解释 {concept}。"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ChatDeepSeek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"deepseek-chat"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★ LCEL：用 | 把 prompt → model → parser 串成一条链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StrOutputParser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数据流：{concept} → 填模板 → 发 LLM → 解析成纯字符串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({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"concept"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"RAG"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
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ts val="1913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521005" y="2195810"/>
            <a:ext cx="490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Python 的 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|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被 LangChain 重载为 Runnable 串联（运算符重载）。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521005" y="3456682"/>
            <a:ext cx="490756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所有组件共享 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invoke / ainvoke / batch / stream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四种调用方式。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521005" y="4949726"/>
            <a:ext cx="490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OpenAI / Anthropic / 通义 / DeepSeek 都实现同一抽象。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540055" y="6010573"/>
            <a:ext cx="489708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80% 的"LLM + 提示词 + 检索"场景，默认起点就是 LangChain。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729085"/>
            <a:ext cx="4861471" cy="1194197"/>
          </a:xfrm>
          <a:prstGeom prst="roundRect">
            <a:avLst>
              <a:gd name="adj" fmla="val 638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3075682"/>
            <a:ext cx="4861471" cy="1194197"/>
          </a:xfrm>
          <a:prstGeom prst="roundRect">
            <a:avLst>
              <a:gd name="adj" fmla="val 638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4422279"/>
            <a:ext cx="4861471" cy="975122"/>
          </a:xfrm>
          <a:prstGeom prst="roundRect">
            <a:avLst>
              <a:gd name="adj" fmla="val 7814"/>
            </a:avLst>
          </a:prstGeom>
          <a:solidFill>
            <a:srgbClr val="EFF6FF"/>
          </a:solidFill>
          <a:ln/>
        </p:spPr>
      </p:sp>
      <p:sp>
        <p:nvSpPr>
          <p:cNvPr id="6" name="Shape 4"/>
          <p:cNvSpPr/>
          <p:nvPr/>
        </p:nvSpPr>
        <p:spPr>
          <a:xfrm>
            <a:off x="5775871" y="2043410"/>
            <a:ext cx="7406729" cy="70485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75871" y="2862560"/>
            <a:ext cx="7406729" cy="70485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775871" y="3681710"/>
            <a:ext cx="7406729" cy="70485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75871" y="4500860"/>
            <a:ext cx="7406729" cy="70485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5587901"/>
            <a:ext cx="12496800" cy="83820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/>
        </p:spPr>
      </p:sp>
      <p:sp>
        <p:nvSpPr>
          <p:cNvPr id="11" name="Shape 9"/>
          <p:cNvSpPr/>
          <p:nvPr/>
        </p:nvSpPr>
        <p:spPr>
          <a:xfrm>
            <a:off x="700088" y="4422279"/>
            <a:ext cx="0" cy="975122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0088" y="5587901"/>
            <a:ext cx="0" cy="838200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33400"/>
            <a:ext cx="1730752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4 章 · 阶段 B · 重点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2373511" y="571500"/>
            <a:ext cx="6655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LangGraph：为什么 Chain 不够</a:t>
            </a:r>
            <a:endParaRPr lang="en-US" sz="2850" dirty="0"/>
          </a:p>
        </p:txBody>
      </p:sp>
      <p:sp>
        <p:nvSpPr>
          <p:cNvPr id="16" name="Text 14"/>
          <p:cNvSpPr/>
          <p:nvPr/>
        </p:nvSpPr>
        <p:spPr>
          <a:xfrm>
            <a:off x="923925" y="2310110"/>
            <a:ext cx="482374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Chain 是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F871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单向流水线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；Agent 需要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循环 + 条件 + 状态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923925" y="3656707"/>
            <a:ext cx="482374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显式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状态机 + 图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，把 Agent 流程画成可执行的有向图。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942975" y="4793754"/>
            <a:ext cx="4813265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一句话：把 Agent 从"黑盒循环"变成"可中断、可观察的流程"。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5922556" y="2310110"/>
            <a:ext cx="6400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Graph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5922556" y="3129260"/>
            <a:ext cx="6400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891B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Node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5922556" y="3948410"/>
            <a:ext cx="6400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7C3AE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Edge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5922556" y="4767560"/>
            <a:ext cx="6400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0596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State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942975" y="5906988"/>
            <a:ext cx="6286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人工介入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1666875" y="5892701"/>
            <a:ext cx="6134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interrupt_before=["human_review"]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—— 在指定节点前暂停，等审批后继续。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:\workspace\处理\trainning\ai\AI-Native-Development\ppt\frontend\dist-slides\assets\images\diagram-04_lang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3780" y="1631007"/>
            <a:ext cx="4360841" cy="5733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3400"/>
            <a:ext cx="1272853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4 章 · 架构图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957239" y="571500"/>
            <a:ext cx="66555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85800" y="904875"/>
            <a:ext cx="1374648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117"/>
              </a:spcAft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LangGraph 状态机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85800" y="7498259"/>
            <a:ext cx="1374648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Graph / Node / Edge / State 构成可执行有向图，支持循环与中断</a:t>
            </a:r>
            <a:endParaRPr lang="en-US" sz="11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729085"/>
            <a:ext cx="7406580" cy="4892725"/>
          </a:xfrm>
          <a:prstGeom prst="roundRect">
            <a:avLst>
              <a:gd name="adj" fmla="val 1557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5325" y="1738610"/>
            <a:ext cx="7387530" cy="3429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320980" y="1729085"/>
            <a:ext cx="4861471" cy="1117997"/>
          </a:xfrm>
          <a:prstGeom prst="roundRect">
            <a:avLst>
              <a:gd name="adj" fmla="val 681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0980" y="2999482"/>
            <a:ext cx="4861471" cy="1117997"/>
          </a:xfrm>
          <a:prstGeom prst="roundRect">
            <a:avLst>
              <a:gd name="adj" fmla="val 681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0980" y="4269879"/>
            <a:ext cx="4861471" cy="1117997"/>
          </a:xfrm>
          <a:prstGeom prst="roundRect">
            <a:avLst>
              <a:gd name="adj" fmla="val 681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0980" y="5540276"/>
            <a:ext cx="4861471" cy="866775"/>
          </a:xfrm>
          <a:prstGeom prst="roundRect">
            <a:avLst>
              <a:gd name="adj" fmla="val 8791"/>
            </a:avLst>
          </a:prstGeom>
          <a:solidFill>
            <a:srgbClr val="EFF6FF"/>
          </a:solidFill>
          <a:ln/>
        </p:spPr>
      </p:sp>
      <p:sp>
        <p:nvSpPr>
          <p:cNvPr id="9" name="Shape 7"/>
          <p:cNvSpPr/>
          <p:nvPr/>
        </p:nvSpPr>
        <p:spPr>
          <a:xfrm>
            <a:off x="695325" y="2076748"/>
            <a:ext cx="73875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35268" y="5540276"/>
            <a:ext cx="0" cy="866775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33400"/>
            <a:ext cx="1136645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4 章 · 代码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833414" y="571500"/>
            <a:ext cx="20672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examples/03_langgraph_demo.py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StateGraph + 条件边 + 人工介入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571625" y="1833860"/>
            <a:ext cx="14297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03_langgraph_demo.py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263854" y="1838623"/>
            <a:ext cx="659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StateGraph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5325" y="2219623"/>
            <a:ext cx="8126284" cy="4254550"/>
          </a:xfrm>
          <a:prstGeom prst="rect">
            <a:avLst/>
          </a:prstGeom>
          <a:noFill/>
          <a:ln/>
        </p:spPr>
        <p:txBody>
          <a:bodyPr wrap="square" lIns="228600" tIns="190500" rIns="228600" bIns="190500" rtlCol="0" anchor="t"/>
          <a:lstStyle/>
          <a:p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langgraph.graph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AgentState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TypedDict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messages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Annotated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operator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reducer：追加而非覆盖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AgentState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call_model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add_node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"tools"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call_tool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add_conditional_edges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should_continue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"tools"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"tools"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"human"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"human"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"__end__"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"tools"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"agent"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回环 → 循环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graph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interrupt_before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=[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"human"</a:t>
            </a:r>
            <a:pPr algn="l" indent="0" marL="0">
              <a:lnSpc>
                <a:spcPts val="1794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8521005" y="2272010"/>
            <a:ext cx="490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975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Annotated[list, operator.add]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定义 reducer：消息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累加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而非覆盖。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521005" y="3542407"/>
            <a:ext cx="490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975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should_continue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返回下一节点名——类比状态机 guard。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521005" y="4812804"/>
            <a:ext cx="490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工具结果回灌再调 LLM，形成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循环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——Chain 做不到的。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540055" y="5873651"/>
            <a:ext cx="48970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</a:t>
            </a:r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interrupt_before</a:t>
            </a:r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让人工审批成为流程的一部分。</a:t>
            </a:r>
            <a:endParaRPr lang="en-US" sz="112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43410"/>
            <a:ext cx="12496800" cy="781050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3053060"/>
            <a:ext cx="4038600" cy="1224558"/>
          </a:xfrm>
          <a:prstGeom prst="roundRect">
            <a:avLst>
              <a:gd name="adj" fmla="val 622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14900" y="3053060"/>
            <a:ext cx="4038600" cy="1224558"/>
          </a:xfrm>
          <a:prstGeom prst="roundRect">
            <a:avLst>
              <a:gd name="adj" fmla="val 622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3053060"/>
            <a:ext cx="4038600" cy="1224558"/>
          </a:xfrm>
          <a:prstGeom prst="roundRect">
            <a:avLst>
              <a:gd name="adj" fmla="val 622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4506218"/>
            <a:ext cx="12496800" cy="859036"/>
          </a:xfrm>
          <a:prstGeom prst="roundRect">
            <a:avLst>
              <a:gd name="adj" fmla="val 8870"/>
            </a:avLst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700088" y="4506218"/>
            <a:ext cx="0" cy="859036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33400"/>
            <a:ext cx="1260247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5 章 · 阶段 B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945779" y="571500"/>
            <a:ext cx="8357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技术体系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RAG：让 LLM 用上私有知识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23925" y="3657898"/>
            <a:ext cx="3918585" cy="2434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向量 + BM25 双路，用 </a:t>
            </a:r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RRF</a:t>
            </a:r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融合排序，互补召回。</a:t>
            </a:r>
            <a:endParaRPr lang="en-US" sz="1088" dirty="0"/>
          </a:p>
        </p:txBody>
      </p:sp>
      <p:sp>
        <p:nvSpPr>
          <p:cNvPr id="13" name="Text 11"/>
          <p:cNvSpPr/>
          <p:nvPr/>
        </p:nvSpPr>
        <p:spPr>
          <a:xfrm>
            <a:off x="5153025" y="3657898"/>
            <a:ext cx="3918585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召回 50 条 → 交叉编码器精排 Top-K，</a:t>
            </a:r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b="1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生产必加</a:t>
            </a:r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9382125" y="3657898"/>
            <a:ext cx="3918585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 约束"没有答案就说未找到"，拒绝编造。</a:t>
            </a:r>
            <a:endParaRPr lang="en-US" sz="1088" dirty="0"/>
          </a:p>
        </p:txBody>
      </p:sp>
      <p:sp>
        <p:nvSpPr>
          <p:cNvPr id="15" name="Text 13"/>
          <p:cNvSpPr/>
          <p:nvPr/>
        </p:nvSpPr>
        <p:spPr>
          <a:xfrm>
            <a:off x="942975" y="4806255"/>
            <a:ext cx="13212128" cy="25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工具对照：</a:t>
            </a:r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框架 LangChain RAG / LlamaIndex ｜ 向量库 Chroma / FAISS / Milvus / Qdrant / pgvector ｜ Embedding 用本地 </a:t>
            </a:r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dirty="0">
                <a:solidFill>
                  <a:srgbClr val="1580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bge-small-zh</a:t>
            </a:r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（国产 LLM 不提供 Embedding 接口）。</a:t>
            </a:r>
            <a:endParaRPr lang="en-US" sz="116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:\workspace\处理\trainning\ai\AI-Native-Development\ppt\frontend\dist-slides\assets\images\diagram-05_r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157" y="4139662"/>
            <a:ext cx="12015936" cy="7164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3400"/>
            <a:ext cx="1272853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5 章 · 架构图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957239" y="571500"/>
            <a:ext cx="83574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技术体系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85800" y="904875"/>
            <a:ext cx="1374648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117"/>
              </a:spcAft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检索增强管线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85800" y="7498259"/>
            <a:ext cx="1374648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Document→Chunk→Embedding→VectorDB→Retriever→LLM，多路召回 + Rerank</a:t>
            </a:r>
            <a:endParaRPr lang="en-US" sz="11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729085"/>
            <a:ext cx="7406580" cy="4111228"/>
          </a:xfrm>
          <a:prstGeom prst="roundRect">
            <a:avLst>
              <a:gd name="adj" fmla="val 1853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5325" y="1738610"/>
            <a:ext cx="7387530" cy="3429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320980" y="1729085"/>
            <a:ext cx="4861471" cy="1117997"/>
          </a:xfrm>
          <a:prstGeom prst="roundRect">
            <a:avLst>
              <a:gd name="adj" fmla="val 681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0980" y="2999482"/>
            <a:ext cx="4861471" cy="1350169"/>
          </a:xfrm>
          <a:prstGeom prst="roundRect">
            <a:avLst>
              <a:gd name="adj" fmla="val 564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0980" y="4502051"/>
            <a:ext cx="4861471" cy="1117997"/>
          </a:xfrm>
          <a:prstGeom prst="roundRect">
            <a:avLst>
              <a:gd name="adj" fmla="val 681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0980" y="5772448"/>
            <a:ext cx="4861471" cy="1066800"/>
          </a:xfrm>
          <a:prstGeom prst="roundRect">
            <a:avLst>
              <a:gd name="adj" fmla="val 7143"/>
            </a:avLst>
          </a:prstGeom>
          <a:solidFill>
            <a:srgbClr val="EFF6FF"/>
          </a:solidFill>
          <a:ln/>
        </p:spPr>
      </p:sp>
      <p:sp>
        <p:nvSpPr>
          <p:cNvPr id="9" name="Shape 7"/>
          <p:cNvSpPr/>
          <p:nvPr/>
        </p:nvSpPr>
        <p:spPr>
          <a:xfrm>
            <a:off x="695325" y="2076748"/>
            <a:ext cx="73875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35268" y="5772448"/>
            <a:ext cx="0" cy="106680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33400"/>
            <a:ext cx="1136645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5 章 · 代码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833414" y="571500"/>
            <a:ext cx="164504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examples/04_rag_demo.py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RAG 六步管线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571625" y="1833860"/>
            <a:ext cx="1000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04_rag_demo.py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138243" y="1838623"/>
            <a:ext cx="7918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RAG Pipeline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5325" y="2219623"/>
            <a:ext cx="7756907" cy="3473053"/>
          </a:xfrm>
          <a:prstGeom prst="rect">
            <a:avLst/>
          </a:prstGeom>
          <a:noFill/>
          <a:ln/>
        </p:spPr>
        <p:txBody>
          <a:bodyPr wrap="square" lIns="228600" tIns="190500" rIns="228600" bIns="190500" rtlCol="0" anchor="t"/>
          <a:lstStyle/>
          <a:p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Document → Chunk → Embedding → VectorDB → Retriever → LLM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TextLoader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"knowledge.txt"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RecursiveCharacterTextSplitter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chunk_size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chunk_overlap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splitter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split_documents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SentenceTransformerEmbeddings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model_name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"BAAI/bge-small-zh-v1.5"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vector_db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Chroma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from_documents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embeddings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vector_db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as_retriever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search_kwargs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={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"k"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
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chain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StrOutputParser</a:t>
            </a:r>
            <a:pPr algn="l" indent="0" marL="0">
              <a:lnSpc>
                <a:spcPts val="1740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8521005" y="2272010"/>
            <a:ext cx="490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太大丢精度、太小断语义；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975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chunk_overlap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保证语义连续。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521005" y="3542407"/>
            <a:ext cx="4907563" cy="464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国产 LLM 不提供 Embedding，故用本地 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975" dirty="0">
                <a:solidFill>
                  <a:srgbClr val="1580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bge-small-zh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，无需厂商 Key。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521005" y="5044976"/>
            <a:ext cx="490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第四问"食堂几点开饭"→ 返回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b="1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"知识库中未找到"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，不编造。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540055" y="6105823"/>
            <a:ext cx="4897085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进阶：</a:t>
            </a:r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BM25Retriever + EnsembleRetriever(RRF)</a:t>
            </a:r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多路召回，再加 Rerank 精排。</a:t>
            </a:r>
            <a:endParaRPr lang="en-US" sz="11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729085"/>
            <a:ext cx="6153150" cy="1205508"/>
          </a:xfrm>
          <a:prstGeom prst="roundRect">
            <a:avLst>
              <a:gd name="adj" fmla="val 632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29450" y="1729085"/>
            <a:ext cx="6153150" cy="1205508"/>
          </a:xfrm>
          <a:prstGeom prst="roundRect">
            <a:avLst>
              <a:gd name="adj" fmla="val 632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477518"/>
            <a:ext cx="12496800" cy="57150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4591943"/>
            <a:ext cx="4038600" cy="1083469"/>
          </a:xfrm>
          <a:prstGeom prst="roundRect">
            <a:avLst>
              <a:gd name="adj" fmla="val 70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14900" y="4591943"/>
            <a:ext cx="4038600" cy="1083469"/>
          </a:xfrm>
          <a:prstGeom prst="roundRect">
            <a:avLst>
              <a:gd name="adj" fmla="val 70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4591943"/>
            <a:ext cx="4038600" cy="1083469"/>
          </a:xfrm>
          <a:prstGeom prst="roundRect">
            <a:avLst>
              <a:gd name="adj" fmla="val 70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33400"/>
            <a:ext cx="1260247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6 章 · 阶段 B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945779" y="571500"/>
            <a:ext cx="1725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LlamaIndex 与检索增强进阶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LlamaIndex 与 LangChain 怎么分工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23925" y="2333923"/>
            <a:ext cx="6244590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 Prompt / 检索 / 记忆 / 工具全链路，组件多而全。</a:t>
            </a:r>
            <a:endParaRPr lang="en-US" sz="1088" dirty="0"/>
          </a:p>
        </p:txBody>
      </p:sp>
      <p:sp>
        <p:nvSpPr>
          <p:cNvPr id="13" name="Text 11"/>
          <p:cNvSpPr/>
          <p:nvPr/>
        </p:nvSpPr>
        <p:spPr>
          <a:xfrm>
            <a:off x="7267575" y="2333923"/>
            <a:ext cx="6244590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1088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专注知识索引与检索，抽象更贴合 RAG 场景，可混用。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885825" y="5125343"/>
            <a:ext cx="400240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按问题类型分发到不同索引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114925" y="5125343"/>
            <a:ext cx="400240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多路结果融合排序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344025" y="5125343"/>
            <a:ext cx="4002405" cy="216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6"/>
              </a:lnSpc>
              <a:spcBef>
                <a:spcPts val="105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拆成子问题分别检索再汇总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:\workspace\处理\trainning\ai\AI-Native-Development\ppt\frontend\dist-slides\assets\images\diagram-06_llamaind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72527" y="1631007"/>
            <a:ext cx="4123347" cy="5733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3400"/>
            <a:ext cx="1272853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6 章 · 架构图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957239" y="571500"/>
            <a:ext cx="17255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LlamaIndex 与检索增强进阶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85800" y="904875"/>
            <a:ext cx="1374648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117"/>
              </a:spcAft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LlamaIndex 检索抽象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85800" y="7498259"/>
            <a:ext cx="1374648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Document→Node→Index→Retriever→Postprocessor→QueryEngine 两阶段</a:t>
            </a:r>
            <a:endParaRPr lang="en-US" sz="11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914400" cy="771525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5160020"/>
            <a:ext cx="828675" cy="762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581275" y="5160020"/>
            <a:ext cx="779413" cy="762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513088" y="5160020"/>
            <a:ext cx="1123504" cy="762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788991" y="5160020"/>
            <a:ext cx="1325612" cy="762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67004" y="5160020"/>
            <a:ext cx="1123950" cy="762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783830"/>
            <a:ext cx="150876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486"/>
              </a:spcAft>
              <a:buNone/>
            </a:pPr>
            <a:r>
              <a:rPr lang="en-US" sz="4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阶段 C · 工程化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1600200" y="4188470"/>
            <a:ext cx="1508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回答 "怎么接系统、能协作、跑得稳、怎么选型"</a:t>
            </a:r>
            <a:endParaRPr lang="en-US" sz="16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729085"/>
            <a:ext cx="6153150" cy="1269206"/>
          </a:xfrm>
          <a:prstGeom prst="roundRect">
            <a:avLst>
              <a:gd name="adj" fmla="val 600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29450" y="1729085"/>
            <a:ext cx="6153150" cy="1269206"/>
          </a:xfrm>
          <a:prstGeom prst="roundRect">
            <a:avLst>
              <a:gd name="adj" fmla="val 600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3541216"/>
            <a:ext cx="4038600" cy="1095970"/>
          </a:xfrm>
          <a:prstGeom prst="roundRect">
            <a:avLst>
              <a:gd name="adj" fmla="val 695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14900" y="3541216"/>
            <a:ext cx="4038600" cy="1095970"/>
          </a:xfrm>
          <a:prstGeom prst="roundRect">
            <a:avLst>
              <a:gd name="adj" fmla="val 695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3541216"/>
            <a:ext cx="4038600" cy="1095970"/>
          </a:xfrm>
          <a:prstGeom prst="roundRect">
            <a:avLst>
              <a:gd name="adj" fmla="val 695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4865787"/>
            <a:ext cx="12496800" cy="838200"/>
          </a:xfrm>
          <a:prstGeom prst="roundRect">
            <a:avLst>
              <a:gd name="adj" fmla="val 9091"/>
            </a:avLst>
          </a:prstGeom>
          <a:solidFill>
            <a:srgbClr val="EFF6FF"/>
          </a:solidFill>
          <a:ln/>
        </p:spPr>
      </p:sp>
      <p:sp>
        <p:nvSpPr>
          <p:cNvPr id="9" name="Shape 7"/>
          <p:cNvSpPr/>
          <p:nvPr/>
        </p:nvSpPr>
        <p:spPr>
          <a:xfrm>
            <a:off x="700088" y="4865787"/>
            <a:ext cx="0" cy="838200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533400"/>
            <a:ext cx="1256809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7 章 · 阶段 C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1942654" y="571500"/>
            <a:ext cx="19424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MCP（Model Context Protocol）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MCP：N×M → N+M 的适配地狱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23925" y="2338685"/>
            <a:ext cx="624459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每个 Agent 自己接工具，N 个 Agent × M 个系统 = </a:t>
            </a:r>
            <a:pPr algn="l" indent="0" marL="0">
              <a:lnSpc>
                <a:spcPts val="219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F871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N×M</a:t>
            </a:r>
            <a:pPr algn="l" indent="0" marL="0">
              <a:lnSpc>
                <a:spcPts val="219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份适配代码。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7267575" y="2338685"/>
            <a:ext cx="6244590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9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标准化 "LLM ↔ 工具" 协议，N 个 Agent + M 个系统 = </a:t>
            </a:r>
            <a:pPr algn="l" indent="0" marL="0">
              <a:lnSpc>
                <a:spcPts val="219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350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N+M</a:t>
            </a:r>
            <a:pPr algn="l" indent="0" marL="0">
              <a:lnSpc>
                <a:spcPts val="2194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份实现。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923925" y="4036516"/>
            <a:ext cx="3918585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暴露工具的服务端（stdio / SSE / WebSocket）</a:t>
            </a:r>
            <a:endParaRPr lang="en-US" sz="1088" dirty="0"/>
          </a:p>
        </p:txBody>
      </p:sp>
      <p:sp>
        <p:nvSpPr>
          <p:cNvPr id="16" name="Text 14"/>
          <p:cNvSpPr/>
          <p:nvPr/>
        </p:nvSpPr>
        <p:spPr>
          <a:xfrm>
            <a:off x="5153025" y="4036516"/>
            <a:ext cx="3918585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发现并调用工具的客户端（通常是 Agent）</a:t>
            </a:r>
            <a:endParaRPr lang="en-US" sz="1088" dirty="0"/>
          </a:p>
        </p:txBody>
      </p:sp>
      <p:sp>
        <p:nvSpPr>
          <p:cNvPr id="17" name="Text 15"/>
          <p:cNvSpPr/>
          <p:nvPr/>
        </p:nvSpPr>
        <p:spPr>
          <a:xfrm>
            <a:off x="9382125" y="4036516"/>
            <a:ext cx="3918585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被暴露的具体能力（docstring 自动转 description）</a:t>
            </a:r>
            <a:endParaRPr lang="en-US" sz="1088" dirty="0"/>
          </a:p>
        </p:txBody>
      </p:sp>
      <p:sp>
        <p:nvSpPr>
          <p:cNvPr id="18" name="Text 16"/>
          <p:cNvSpPr/>
          <p:nvPr/>
        </p:nvSpPr>
        <p:spPr>
          <a:xfrm>
            <a:off x="942975" y="5184874"/>
            <a:ext cx="188971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 LangChain Tool 的区别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2813298" y="5170587"/>
            <a:ext cx="61358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 是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跨进程 / 跨语言 / 可复用</a:t>
            </a:r>
            <a:pPr algn="l" indent="0" mar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的标准协议——一个 Server 可被多个 Agent 共享。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:\workspace\处理\trainning\ai\AI-Native-Development\ppt\frontend\dist-slides\assets\images\diagram-07_m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61692" y="1633418"/>
            <a:ext cx="7744867" cy="572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3400"/>
            <a:ext cx="1272853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7 章 · 架构图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957239" y="571500"/>
            <a:ext cx="27097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85800" y="904875"/>
            <a:ext cx="1374648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117"/>
              </a:spcAft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MCP 协议拓扑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85800" y="7498259"/>
            <a:ext cx="1374648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N 个 Agent + M 个系统 = N+M 份实现，标准化工具协议</a:t>
            </a:r>
            <a:endParaRPr lang="en-US" sz="1125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729085"/>
            <a:ext cx="7406580" cy="3857625"/>
          </a:xfrm>
          <a:prstGeom prst="roundRect">
            <a:avLst>
              <a:gd name="adj" fmla="val 197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5325" y="1738610"/>
            <a:ext cx="7387530" cy="3429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320980" y="1729085"/>
            <a:ext cx="4861471" cy="1359694"/>
          </a:xfrm>
          <a:prstGeom prst="roundRect">
            <a:avLst>
              <a:gd name="adj" fmla="val 5604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320980" y="3241179"/>
            <a:ext cx="4861471" cy="1117997"/>
          </a:xfrm>
          <a:prstGeom prst="roundRect">
            <a:avLst>
              <a:gd name="adj" fmla="val 681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0980" y="4511576"/>
            <a:ext cx="4861471" cy="1117997"/>
          </a:xfrm>
          <a:prstGeom prst="roundRect">
            <a:avLst>
              <a:gd name="adj" fmla="val 6816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0980" y="5781973"/>
            <a:ext cx="4861471" cy="866775"/>
          </a:xfrm>
          <a:prstGeom prst="roundRect">
            <a:avLst>
              <a:gd name="adj" fmla="val 8791"/>
            </a:avLst>
          </a:prstGeom>
          <a:solidFill>
            <a:srgbClr val="EFF6FF"/>
          </a:solidFill>
          <a:ln/>
        </p:spPr>
      </p:sp>
      <p:sp>
        <p:nvSpPr>
          <p:cNvPr id="9" name="Shape 7"/>
          <p:cNvSpPr/>
          <p:nvPr/>
        </p:nvSpPr>
        <p:spPr>
          <a:xfrm>
            <a:off x="695325" y="2076748"/>
            <a:ext cx="738753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35268" y="5781973"/>
            <a:ext cx="0" cy="866775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33400"/>
            <a:ext cx="1136645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7 章 · 代码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833414" y="571500"/>
            <a:ext cx="17367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examples/06_mcp_server.py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@mcp.tool() 一行暴露工具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571625" y="1833860"/>
            <a:ext cx="114373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06_mcp_server.py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7452420" y="1838623"/>
            <a:ext cx="461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0891B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FastMCP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95325" y="2224385"/>
            <a:ext cx="8126284" cy="3209925"/>
          </a:xfrm>
          <a:prstGeom prst="rect">
            <a:avLst/>
          </a:prstGeom>
          <a:noFill/>
          <a:ln/>
        </p:spPr>
        <p:txBody>
          <a:bodyPr wrap="square" lIns="228600" tIns="190500" rIns="228600" bIns="190500" rtlCol="0" anchor="t"/>
          <a:lstStyle/>
          <a:p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mcp.server.fastmcp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FastMCP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2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3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FastMCP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"enterprise-db-tools"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4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@mcp.tool()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6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query_employee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7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"""根据员工 ID 查询员工信息。"""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emp_id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"error"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f"员工 {emp_id} 不存在"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9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Client 侧：发现 + 调用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list_tools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
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call_tool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"query_employee"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{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"emp_id"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580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"E001"</a:t>
            </a:r>
            <a:pPr algn="l" indent="0" marL="0">
              <a:lnSpc>
                <a:spcPts val="1856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521005" y="2272010"/>
            <a:ext cx="4907563" cy="473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975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@mcp.tool()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把普通函数变成 Agent 可调工具（Java 注解 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@RpcMethod</a:t>
            </a:r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）。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521005" y="3784104"/>
            <a:ext cx="490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函数 docstring 自动转 Tool 描述、类型提示自动转 JSON Schema。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8521005" y="5054501"/>
            <a:ext cx="4907563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异步调用，类比 WebFlux 的响应式，第 8 章详解。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8540055" y="6115348"/>
            <a:ext cx="48970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💡 一个 Agent 接公司 N 个内部系统，不必每个手写适配。</a:t>
            </a:r>
            <a:endParaRPr lang="en-US" sz="11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729085"/>
            <a:ext cx="12496800" cy="91440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3186410"/>
            <a:ext cx="4038600" cy="1295995"/>
          </a:xfrm>
          <a:prstGeom prst="roundRect">
            <a:avLst>
              <a:gd name="adj" fmla="val 588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14900" y="3186410"/>
            <a:ext cx="4038600" cy="1295995"/>
          </a:xfrm>
          <a:prstGeom prst="roundRect">
            <a:avLst>
              <a:gd name="adj" fmla="val 588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3186410"/>
            <a:ext cx="4038600" cy="1295995"/>
          </a:xfrm>
          <a:prstGeom prst="roundRect">
            <a:avLst>
              <a:gd name="adj" fmla="val 588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4711005"/>
            <a:ext cx="12496800" cy="933450"/>
          </a:xfrm>
          <a:prstGeom prst="roundRect">
            <a:avLst>
              <a:gd name="adj" fmla="val 8163"/>
            </a:avLst>
          </a:prstGeom>
          <a:solidFill>
            <a:srgbClr val="EFF6FF"/>
          </a:solidFill>
          <a:ln/>
        </p:spPr>
      </p:sp>
      <p:sp>
        <p:nvSpPr>
          <p:cNvPr id="8" name="Shape 6"/>
          <p:cNvSpPr/>
          <p:nvPr/>
        </p:nvSpPr>
        <p:spPr>
          <a:xfrm>
            <a:off x="700088" y="4711005"/>
            <a:ext cx="0" cy="933450"/>
          </a:xfrm>
          <a:prstGeom prst="line">
            <a:avLst/>
          </a:prstGeom>
          <a:noFill/>
          <a:ln w="28575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533400"/>
            <a:ext cx="1256809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8 章 · 阶段 C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942654" y="571500"/>
            <a:ext cx="13961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A2A（Agent To Agent）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A2A：多 Agent 怎么协作</a:t>
            </a:r>
            <a:endParaRPr lang="en-US" sz="2850" dirty="0"/>
          </a:p>
        </p:txBody>
      </p:sp>
      <p:sp>
        <p:nvSpPr>
          <p:cNvPr id="12" name="Text 10"/>
          <p:cNvSpPr/>
          <p:nvPr/>
        </p:nvSpPr>
        <p:spPr>
          <a:xfrm>
            <a:off x="923925" y="3881735"/>
            <a:ext cx="3918585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之间怎么可靠地收发消息。</a:t>
            </a:r>
            <a:endParaRPr lang="en-US" sz="1088" dirty="0"/>
          </a:p>
        </p:txBody>
      </p:sp>
      <p:sp>
        <p:nvSpPr>
          <p:cNvPr id="13" name="Text 11"/>
          <p:cNvSpPr/>
          <p:nvPr/>
        </p:nvSpPr>
        <p:spPr>
          <a:xfrm>
            <a:off x="5153025" y="3881735"/>
            <a:ext cx="3918585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怎么找到"谁能干什么"，动态注册能力。</a:t>
            </a:r>
            <a:endParaRPr lang="en-US" sz="1088" dirty="0"/>
          </a:p>
        </p:txBody>
      </p:sp>
      <p:sp>
        <p:nvSpPr>
          <p:cNvPr id="14" name="Text 12"/>
          <p:cNvSpPr/>
          <p:nvPr/>
        </p:nvSpPr>
        <p:spPr>
          <a:xfrm>
            <a:off x="9382125" y="3881735"/>
            <a:ext cx="3918585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任务怎么拆分、派给谁、如何汇总。</a:t>
            </a:r>
            <a:endParaRPr lang="en-US" sz="1088" dirty="0"/>
          </a:p>
        </p:txBody>
      </p:sp>
      <p:sp>
        <p:nvSpPr>
          <p:cNvPr id="15" name="Text 13"/>
          <p:cNvSpPr/>
          <p:nvPr/>
        </p:nvSpPr>
        <p:spPr>
          <a:xfrm>
            <a:off x="942975" y="5053905"/>
            <a:ext cx="1321212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典型流程：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Research → Coding → Testing 各司其职 ｜ 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一句话：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 Agent 是"微服务化"在 Agent 层的重演，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3-4 个为宜，别为了拆而拆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:\workspace\处理\trainning\ai\AI-Native-Development\ppt\frontend\dist-slides\assets\images\diagram-08_a2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3186" y="1578372"/>
            <a:ext cx="10982027" cy="57248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3400"/>
            <a:ext cx="1205076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8 章 · 架构图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895624" y="581025"/>
            <a:ext cx="2458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A2A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85800" y="885825"/>
            <a:ext cx="13746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117"/>
              </a:spcAft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A2A 多 Agent 协作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85800" y="7441109"/>
            <a:ext cx="1374648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Research / Coding / Testing 角色化分工与任务委派</a:t>
            </a:r>
            <a:endParaRPr lang="en-US" sz="112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729085"/>
            <a:ext cx="12496800" cy="971550"/>
          </a:xfrm>
          <a:prstGeom prst="roundRect">
            <a:avLst>
              <a:gd name="adj" fmla="val 7843"/>
            </a:avLst>
          </a:prstGeom>
          <a:solidFill>
            <a:srgbClr val="EFF6FF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3281660"/>
            <a:ext cx="3009900" cy="933450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8100" y="3281660"/>
            <a:ext cx="3009900" cy="933450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10400" y="3281660"/>
            <a:ext cx="3009900" cy="933450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72700" y="3281660"/>
            <a:ext cx="3009900" cy="933450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4367510"/>
            <a:ext cx="3009900" cy="933450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8100" y="4367510"/>
            <a:ext cx="3009900" cy="933450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10400" y="4367510"/>
            <a:ext cx="3009900" cy="933450"/>
          </a:xfrm>
          <a:prstGeom prst="roundRect">
            <a:avLst>
              <a:gd name="adj" fmla="val 816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72700" y="4367510"/>
            <a:ext cx="3009900" cy="933450"/>
          </a:xfrm>
          <a:prstGeom prst="roundRect">
            <a:avLst>
              <a:gd name="adj" fmla="val 8163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5567660"/>
            <a:ext cx="12496800" cy="839986"/>
          </a:xfrm>
          <a:prstGeom prst="roundRect">
            <a:avLst>
              <a:gd name="adj" fmla="val 9072"/>
            </a:avLst>
          </a:prstGeom>
          <a:solidFill>
            <a:srgbClr val="EFF6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00088" y="1729085"/>
            <a:ext cx="0" cy="97155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0088" y="5567660"/>
            <a:ext cx="0" cy="839986"/>
          </a:xfrm>
          <a:prstGeom prst="line">
            <a:avLst/>
          </a:prstGeom>
          <a:noFill/>
          <a:ln w="28575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33400"/>
            <a:ext cx="2135937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9 章 · 阶段 C · 上生产关键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2741861" y="571500"/>
            <a:ext cx="12476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Harness Engineering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Harness：让 Agent 稳定上生产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981075" y="2091035"/>
            <a:ext cx="131283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= LLM + Harness</a:t>
            </a:r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</a:t>
            </a:r>
            <a:pPr algn="l" indent="0" marL="0">
              <a:spcBef>
                <a:spcPts val="1350"/>
              </a:spcBef>
              <a:spcAft>
                <a:spcPts val="1350"/>
              </a:spcAft>
              <a:buNone/>
            </a:pPr>
            <a:r>
              <a:rPr lang="en-US" sz="120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没有 Harness 的 Agent，只是 demo。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85825" y="3710285"/>
            <a:ext cx="28708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上下文窗口管理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4048125" y="3710285"/>
            <a:ext cx="28708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长期记忆存储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7210425" y="3710285"/>
            <a:ext cx="28708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工具沙箱执行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0372725" y="3710285"/>
            <a:ext cx="28708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权限与审批护栏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885825" y="4796135"/>
            <a:ext cx="28708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评估回归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048125" y="4796135"/>
            <a:ext cx="28708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可观测与告警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7210425" y="4796135"/>
            <a:ext cx="287083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spcAft>
                <a:spcPts val="975"/>
              </a:spcAft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反馈闭环优化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942975" y="5867698"/>
            <a:ext cx="1321212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Claude Code 的 Harness 形态 = </a:t>
            </a:r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b="1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CLI + 工具沙箱 + 上下文管理</a:t>
            </a:r>
            <a:pPr algn="l" indent="0" marL="0">
              <a:lnSpc>
                <a:spcPts val="1889"/>
              </a:lnSpc>
              <a:spcBef>
                <a:spcPts val="1163"/>
              </a:spcBef>
              <a:spcAft>
                <a:spcPts val="1163"/>
              </a:spcAft>
              <a:buNone/>
            </a:pPr>
            <a:r>
              <a:rPr lang="en-US" sz="1163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——这也是 Codex 等 Coding Agent 背后的工程底座。</a:t>
            </a:r>
            <a:endParaRPr lang="en-US" sz="1163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:\workspace\处理\trainning\ai\AI-Native-Development\ppt\frontend\dist-slides\assets\images\diagram-09_harn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6960" y="1631865"/>
            <a:ext cx="6314480" cy="57321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3400"/>
            <a:ext cx="1272853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9 章 · 架构图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957239" y="571500"/>
            <a:ext cx="124765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Harness Engineering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85800" y="904875"/>
            <a:ext cx="1374648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117"/>
              </a:spcAft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Harness 工程底座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85800" y="7498259"/>
            <a:ext cx="1312164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Context / Memory / Tool Runtime / Permission / Eval / Monitor / Feedback</a:t>
            </a:r>
            <a:endParaRPr lang="en-US" sz="11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43410"/>
            <a:ext cx="4038600" cy="1324570"/>
          </a:xfrm>
          <a:prstGeom prst="roundRect">
            <a:avLst>
              <a:gd name="adj" fmla="val 575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14900" y="2043410"/>
            <a:ext cx="4038600" cy="1324570"/>
          </a:xfrm>
          <a:prstGeom prst="roundRect">
            <a:avLst>
              <a:gd name="adj" fmla="val 575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043410"/>
            <a:ext cx="4038600" cy="1324570"/>
          </a:xfrm>
          <a:prstGeom prst="roundRect">
            <a:avLst>
              <a:gd name="adj" fmla="val 575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634680"/>
            <a:ext cx="12496800" cy="1200150"/>
          </a:xfrm>
          <a:prstGeom prst="roundRect">
            <a:avLst>
              <a:gd name="adj" fmla="val 6349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5415855"/>
            <a:ext cx="3009900" cy="523875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8100" y="5415855"/>
            <a:ext cx="3009900" cy="523875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10400" y="5415855"/>
            <a:ext cx="3009900" cy="523875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72700" y="5415855"/>
            <a:ext cx="3009900" cy="523875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33400"/>
            <a:ext cx="1337191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10 章 · 阶段 C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2015728" y="571500"/>
            <a:ext cx="6385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Skill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Skill：把专家经验封装成能力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923925" y="2586335"/>
            <a:ext cx="3918585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一个函数，最小执行单元。</a:t>
            </a:r>
            <a:endParaRPr lang="en-US" sz="1088" dirty="0"/>
          </a:p>
        </p:txBody>
      </p:sp>
      <p:sp>
        <p:nvSpPr>
          <p:cNvPr id="15" name="Text 13"/>
          <p:cNvSpPr/>
          <p:nvPr/>
        </p:nvSpPr>
        <p:spPr>
          <a:xfrm>
            <a:off x="5153025" y="2586335"/>
            <a:ext cx="3918585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一段文本指令，指导如何做。</a:t>
            </a:r>
            <a:endParaRPr lang="en-US" sz="1088" dirty="0"/>
          </a:p>
        </p:txBody>
      </p:sp>
      <p:sp>
        <p:nvSpPr>
          <p:cNvPr id="16" name="Text 14"/>
          <p:cNvSpPr/>
          <p:nvPr/>
        </p:nvSpPr>
        <p:spPr>
          <a:xfrm>
            <a:off x="9382125" y="2586335"/>
            <a:ext cx="3918585" cy="224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67"/>
              </a:lnSpc>
              <a:spcBef>
                <a:spcPts val="600"/>
              </a:spcBef>
              <a:spcAft>
                <a:spcPts val="1088"/>
              </a:spcAft>
              <a:buNone/>
            </a:pPr>
            <a:r>
              <a:rPr lang="en-US" sz="1088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 + Tool + 说明 + 触发条件。</a:t>
            </a:r>
            <a:endParaRPr lang="en-US" sz="1088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:\workspace\处理\trainning\ai\AI-Native-Development\ppt\frontend\dist-slides\assets\images\diagram-10_ski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56485" y="1631007"/>
            <a:ext cx="5755430" cy="57339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3400"/>
            <a:ext cx="1353235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10 章 · 架构图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2030313" y="571500"/>
            <a:ext cx="63851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Agent Skill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85800" y="904875"/>
            <a:ext cx="1374648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117"/>
              </a:spcAft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Agent Skill 结构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85800" y="7498259"/>
            <a:ext cx="1374648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Prompt + Tool + 说明 + 触发条件 封装为可复用能力</a:t>
            </a:r>
            <a:endParaRPr lang="en-US" sz="1125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043410"/>
            <a:ext cx="4038600" cy="923925"/>
          </a:xfrm>
          <a:prstGeom prst="roundRect">
            <a:avLst>
              <a:gd name="adj" fmla="val 824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914900" y="2043410"/>
            <a:ext cx="4038600" cy="923925"/>
          </a:xfrm>
          <a:prstGeom prst="roundRect">
            <a:avLst>
              <a:gd name="adj" fmla="val 824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0" y="2043410"/>
            <a:ext cx="4038600" cy="923925"/>
          </a:xfrm>
          <a:prstGeom prst="roundRect">
            <a:avLst>
              <a:gd name="adj" fmla="val 824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3510260"/>
            <a:ext cx="6134100" cy="44767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8500" y="3510260"/>
            <a:ext cx="6134100" cy="44767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4072235"/>
            <a:ext cx="6134100" cy="44767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48500" y="4072235"/>
            <a:ext cx="6134100" cy="44767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" y="4634210"/>
            <a:ext cx="6134100" cy="44767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8500" y="4634210"/>
            <a:ext cx="6134100" cy="44767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5196185"/>
            <a:ext cx="6134100" cy="44767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048500" y="5196185"/>
            <a:ext cx="6134100" cy="447675"/>
          </a:xfrm>
          <a:prstGeom prst="roundRect">
            <a:avLst>
              <a:gd name="adj" fmla="val 8511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33400"/>
            <a:ext cx="1337191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11 章 · 阶段 C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2015728" y="571500"/>
            <a:ext cx="14982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主流框架选型与生态进阶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框架选型：先问需求，再选框架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885825" y="3634085"/>
            <a:ext cx="102695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单 Agent / 通用</a:t>
            </a:r>
            <a:endParaRPr lang="en-US" sz="1088" dirty="0"/>
          </a:p>
        </p:txBody>
      </p:sp>
      <p:sp>
        <p:nvSpPr>
          <p:cNvPr id="18" name="Text 16"/>
          <p:cNvSpPr/>
          <p:nvPr/>
        </p:nvSpPr>
        <p:spPr>
          <a:xfrm>
            <a:off x="4979640" y="3634085"/>
            <a:ext cx="172224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 / LangGraph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7248525" y="3634085"/>
            <a:ext cx="123716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 Agent 角色扮演</a:t>
            </a:r>
            <a:endParaRPr lang="en-US" sz="1088" dirty="0"/>
          </a:p>
        </p:txBody>
      </p:sp>
      <p:sp>
        <p:nvSpPr>
          <p:cNvPr id="20" name="Text 18"/>
          <p:cNvSpPr/>
          <p:nvPr/>
        </p:nvSpPr>
        <p:spPr>
          <a:xfrm>
            <a:off x="12487126" y="3634085"/>
            <a:ext cx="5202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CrewAI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85825" y="4196060"/>
            <a:ext cx="1085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多 Agent 对话式</a:t>
            </a:r>
            <a:endParaRPr lang="en-US" sz="1088" dirty="0"/>
          </a:p>
        </p:txBody>
      </p:sp>
      <p:sp>
        <p:nvSpPr>
          <p:cNvPr id="22" name="Text 20"/>
          <p:cNvSpPr/>
          <p:nvPr/>
        </p:nvSpPr>
        <p:spPr>
          <a:xfrm>
            <a:off x="6015335" y="4196060"/>
            <a:ext cx="63476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AutoGen</a:t>
            </a:r>
            <a:endParaRPr lang="en-US" sz="1125" dirty="0"/>
          </a:p>
        </p:txBody>
      </p:sp>
      <p:sp>
        <p:nvSpPr>
          <p:cNvPr id="23" name="Text 21"/>
          <p:cNvSpPr/>
          <p:nvPr/>
        </p:nvSpPr>
        <p:spPr>
          <a:xfrm>
            <a:off x="7248525" y="4196060"/>
            <a:ext cx="1196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轻量 OpenAI 风格</a:t>
            </a:r>
            <a:endParaRPr lang="en-US" sz="1088" dirty="0"/>
          </a:p>
        </p:txBody>
      </p:sp>
      <p:sp>
        <p:nvSpPr>
          <p:cNvPr id="24" name="Text 22"/>
          <p:cNvSpPr/>
          <p:nvPr/>
        </p:nvSpPr>
        <p:spPr>
          <a:xfrm>
            <a:off x="11636871" y="4196060"/>
            <a:ext cx="14129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OpenAI Agents SDK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885825" y="4758035"/>
            <a:ext cx="106346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提示词优化编译</a:t>
            </a:r>
            <a:endParaRPr lang="en-US" sz="1088" dirty="0"/>
          </a:p>
        </p:txBody>
      </p:sp>
      <p:sp>
        <p:nvSpPr>
          <p:cNvPr id="26" name="Text 24"/>
          <p:cNvSpPr/>
          <p:nvPr/>
        </p:nvSpPr>
        <p:spPr>
          <a:xfrm>
            <a:off x="6251377" y="4758035"/>
            <a:ext cx="3869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DSPy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7248525" y="4758035"/>
            <a:ext cx="7596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跨语言企业</a:t>
            </a:r>
            <a:endParaRPr lang="en-US" sz="1088" dirty="0"/>
          </a:p>
        </p:txBody>
      </p:sp>
      <p:sp>
        <p:nvSpPr>
          <p:cNvPr id="28" name="Text 26"/>
          <p:cNvSpPr/>
          <p:nvPr/>
        </p:nvSpPr>
        <p:spPr>
          <a:xfrm>
            <a:off x="11825288" y="4758035"/>
            <a:ext cx="12151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0596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Semantic Kernel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885825" y="5320010"/>
            <a:ext cx="62832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RAG 专用</a:t>
            </a:r>
            <a:endParaRPr lang="en-US" sz="1088" dirty="0"/>
          </a:p>
        </p:txBody>
      </p:sp>
      <p:sp>
        <p:nvSpPr>
          <p:cNvPr id="30" name="Text 28"/>
          <p:cNvSpPr/>
          <p:nvPr/>
        </p:nvSpPr>
        <p:spPr>
          <a:xfrm>
            <a:off x="5031135" y="5320010"/>
            <a:ext cx="166817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D9770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LlamaIndex / Haystack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9010650" y="5320010"/>
            <a:ext cx="24307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8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框架是手段不是目的，别被营销带偏</a:t>
            </a:r>
            <a:endParaRPr lang="en-US" sz="1088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:\workspace\处理\trainning\ai\AI-Native-Development\ppt\frontend\dist-slides\assets\images\diagram-11_framework_se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157" y="2358918"/>
            <a:ext cx="12015936" cy="42777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3400"/>
            <a:ext cx="1353235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11 章 · 架构图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2030313" y="571500"/>
            <a:ext cx="149828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主流框架选型与生态进阶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85800" y="904875"/>
            <a:ext cx="1374648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117"/>
              </a:spcAft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框架选型地图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85800" y="7498259"/>
            <a:ext cx="1374648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按单/多 Agent、RAG/编排、跨语言需求对照选型</a:t>
            </a:r>
            <a:endParaRPr lang="en-US" sz="1125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914400" cy="771525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1600200" y="4988570"/>
            <a:ext cx="2056358" cy="110490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08958" y="4988570"/>
            <a:ext cx="2190899" cy="1104900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2612380"/>
            <a:ext cx="1508760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3486"/>
              </a:spcAft>
              <a:buNone/>
            </a:pPr>
            <a:r>
              <a:rPr lang="en-US" sz="42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阶段 D · 架构实战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600200" y="4017020"/>
            <a:ext cx="1508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650"/>
              </a:spcAft>
              <a:buNone/>
            </a:pPr>
            <a:r>
              <a:rPr lang="en-US" sz="1650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回答 "如何组合形成 Agent 应用"</a:t>
            </a:r>
            <a:endParaRPr lang="en-US" sz="16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662410"/>
            <a:ext cx="12496800" cy="2571750"/>
          </a:xfrm>
          <a:prstGeom prst="roundRect">
            <a:avLst>
              <a:gd name="adj" fmla="val 2963"/>
            </a:avLst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5325" y="1671935"/>
            <a:ext cx="12477750" cy="40957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Shape 3"/>
          <p:cNvSpPr/>
          <p:nvPr/>
        </p:nvSpPr>
        <p:spPr>
          <a:xfrm>
            <a:off x="695325" y="2081510"/>
            <a:ext cx="1247775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Shape 4"/>
          <p:cNvSpPr/>
          <p:nvPr/>
        </p:nvSpPr>
        <p:spPr>
          <a:xfrm>
            <a:off x="695325" y="2510135"/>
            <a:ext cx="1247775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7" name="Shape 5"/>
          <p:cNvSpPr/>
          <p:nvPr/>
        </p:nvSpPr>
        <p:spPr>
          <a:xfrm>
            <a:off x="695325" y="2938760"/>
            <a:ext cx="1247775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Shape 6"/>
          <p:cNvSpPr/>
          <p:nvPr/>
        </p:nvSpPr>
        <p:spPr>
          <a:xfrm>
            <a:off x="695325" y="3367385"/>
            <a:ext cx="1247775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9" name="Shape 7"/>
          <p:cNvSpPr/>
          <p:nvPr/>
        </p:nvSpPr>
        <p:spPr>
          <a:xfrm>
            <a:off x="695325" y="3796010"/>
            <a:ext cx="12477750" cy="428625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4500860"/>
            <a:ext cx="12496800" cy="1343025"/>
          </a:xfrm>
          <a:prstGeom prst="roundRect">
            <a:avLst>
              <a:gd name="adj" fmla="val 5674"/>
            </a:avLst>
          </a:prstGeom>
          <a:solidFill>
            <a:srgbClr val="EFF6FF"/>
          </a:solidFill>
          <a:ln/>
        </p:spPr>
      </p:sp>
      <p:sp>
        <p:nvSpPr>
          <p:cNvPr id="11" name="Shape 9"/>
          <p:cNvSpPr/>
          <p:nvPr/>
        </p:nvSpPr>
        <p:spPr>
          <a:xfrm>
            <a:off x="695325" y="2086273"/>
            <a:ext cx="12477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5325" y="2514898"/>
            <a:ext cx="12477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5325" y="2943523"/>
            <a:ext cx="12477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5325" y="3372148"/>
            <a:ext cx="12477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5325" y="3800773"/>
            <a:ext cx="124777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0088" y="4500860"/>
            <a:ext cx="0" cy="1343025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533400"/>
            <a:ext cx="1280874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12 章 · 阶段 D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1964531" y="571500"/>
            <a:ext cx="111274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 Agent 架构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85800" y="885825"/>
            <a:ext cx="1374648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企业级 Agent 六层架构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981075" y="4881860"/>
            <a:ext cx="1312830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"Agent 应用 </a:t>
            </a:r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b="1" dirty="0">
                <a:solidFill>
                  <a:srgbClr val="F87171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≠</a:t>
            </a:r>
            <a:pPr algn="l" indent="0" marL="0">
              <a:spcBef>
                <a:spcPts val="1500"/>
              </a:spcBef>
              <a:spcAft>
                <a:spcPts val="15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一个 LLM 调用"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81075" y="5320010"/>
            <a:ext cx="1312830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它是 LLM + 工具 + 知识 + 记忆 + 治理层的系统工程，能向架构评审会讲清每一层为什么存在。</a:t>
            </a:r>
            <a:endParaRPr lang="en-US" sz="1125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:\workspace\处理\trainning\ai\AI-Native-Development\ppt\frontend\dist-slides\assets\images\diagram-12_enterpri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157" y="2320878"/>
            <a:ext cx="12015936" cy="43538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3400"/>
            <a:ext cx="1353235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12 章 · 架构图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2030313" y="571500"/>
            <a:ext cx="110914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企业级 Agent 架构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85800" y="904875"/>
            <a:ext cx="1374648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117"/>
              </a:spcAft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企业级六层架构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85800" y="7498259"/>
            <a:ext cx="1374648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用户 → Agent App → 能力层 → Harness → 知识/系统，系统工程</a:t>
            </a:r>
            <a:endParaRPr lang="en-US" sz="1125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729085"/>
            <a:ext cx="6134100" cy="2152650"/>
          </a:xfrm>
          <a:prstGeom prst="roundRect">
            <a:avLst>
              <a:gd name="adj" fmla="val 354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048500" y="1729085"/>
            <a:ext cx="6134100" cy="2152650"/>
          </a:xfrm>
          <a:prstGeom prst="roundRect">
            <a:avLst>
              <a:gd name="adj" fmla="val 3540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4110335"/>
            <a:ext cx="12496800" cy="1209675"/>
          </a:xfrm>
          <a:prstGeom prst="roundRect">
            <a:avLst>
              <a:gd name="adj" fmla="val 6299"/>
            </a:avLst>
          </a:prstGeom>
          <a:solidFill>
            <a:srgbClr val="EFF6FF"/>
          </a:solidFill>
          <a:ln/>
        </p:spPr>
      </p:sp>
      <p:sp>
        <p:nvSpPr>
          <p:cNvPr id="6" name="Shape 4"/>
          <p:cNvSpPr/>
          <p:nvPr/>
        </p:nvSpPr>
        <p:spPr>
          <a:xfrm>
            <a:off x="700088" y="4110335"/>
            <a:ext cx="0" cy="1209675"/>
          </a:xfrm>
          <a:prstGeom prst="line">
            <a:avLst/>
          </a:prstGeom>
          <a:noFill/>
          <a:ln w="28575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533400"/>
            <a:ext cx="1345213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13 章 · 阶段 D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023021" y="571500"/>
            <a:ext cx="5448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综合案例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85800" y="904875"/>
            <a:ext cx="1374648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366"/>
              </a:spcAft>
              <a:buNone/>
            </a:pPr>
            <a:r>
              <a:rPr lang="en-US" sz="28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两个端到端案例串起前 12 章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62025" y="2005310"/>
            <a:ext cx="593288" cy="257175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案例 1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962025" y="2395835"/>
            <a:ext cx="58607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 + LangChain + RAG + Chroma + MCP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62025" y="2710160"/>
            <a:ext cx="5581650" cy="75247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问制度 → 调 </a:t>
            </a:r>
            <a:pPr algn="l" indent="0" marL="0">
              <a:buNone/>
            </a:pPr>
            <a:r>
              <a:rPr lang="en-US" sz="975" dirty="0">
                <a:solidFill>
                  <a:srgbClr val="1580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search_policy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问员工 → 调 </a:t>
            </a:r>
            <a:pPr algn="l" indent="0" marL="0">
              <a:buNone/>
            </a:pPr>
            <a:r>
              <a:rPr lang="en-US" sz="975" dirty="0">
                <a:solidFill>
                  <a:srgbClr val="15803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query_employee_db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偏 </a:t>
            </a:r>
            <a:pPr algn="l" indent="0" marL="0">
              <a:buNone/>
            </a:pPr>
            <a:r>
              <a:rPr lang="en-US" sz="1125" b="1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 + 检索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场景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7324725" y="2005310"/>
            <a:ext cx="593288" cy="257175"/>
          </a:xfrm>
          <a:prstGeom prst="rect">
            <a:avLst/>
          </a:prstGeom>
          <a:noFill/>
          <a:ln/>
        </p:spPr>
        <p:txBody>
          <a:bodyPr wrap="square" lIns="95250" tIns="38100" rIns="9525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案例 2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324725" y="2395835"/>
            <a:ext cx="58607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50"/>
              </a:spcBef>
              <a:spcAft>
                <a:spcPts val="12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 + LangGraph + Skill + Tool Calling + Harness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324725" y="2710160"/>
            <a:ext cx="5581650" cy="75247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测试失败 → 回环 coding 节点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带人工审批的研发流水线</a:t>
            </a:r>
            <a:endParaRPr lang="en-US" sz="1125" dirty="0"/>
          </a:p>
          <a:p>
            <a:pPr algn="l" marL="190500" indent="-190500">
              <a:buSzPct val="100000"/>
              <a:buChar char="•"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偏 </a:t>
            </a:r>
            <a:pPr algn="l" indent="0" marL="0">
              <a:buNone/>
            </a:pPr>
            <a:r>
              <a:rPr lang="en-US" sz="1125" b="1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流程 + 工具</a:t>
            </a:r>
            <a:pPr algn="l" indent="0" marL="0">
              <a:buNone/>
            </a:pPr>
            <a:r>
              <a:rPr lang="en-US" sz="112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场景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942975" y="4691360"/>
            <a:ext cx="1321212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0891B2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检索为主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LangChain + RAG ｜ 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b="1" dirty="0">
                <a:solidFill>
                  <a:srgbClr val="7C3AED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流程复杂</a:t>
            </a:r>
            <a:pPr algn="l" indent="0" marL="0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→ LangGraph。两个案例分别对应两类最典型的 Agent 需求。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76200" y="76200"/>
            <a:ext cx="13716000" cy="381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D:\workspace\处理\trainning\ai\AI-Native-Development\ppt\frontend\dist-slides\assets\images\diagram-13_c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6157" y="3344178"/>
            <a:ext cx="12015936" cy="21931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33400"/>
            <a:ext cx="1280874" cy="23812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 13 章 · 架构图</a:t>
            </a:r>
            <a:endParaRPr lang="en-US" sz="975" dirty="0"/>
          </a:p>
        </p:txBody>
      </p:sp>
      <p:sp>
        <p:nvSpPr>
          <p:cNvPr id="6" name="Text 3"/>
          <p:cNvSpPr/>
          <p:nvPr/>
        </p:nvSpPr>
        <p:spPr>
          <a:xfrm>
            <a:off x="1964531" y="571500"/>
            <a:ext cx="54483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综合案例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685800" y="885825"/>
            <a:ext cx="1374648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900"/>
              </a:spcBef>
              <a:spcAft>
                <a:spcPts val="2117"/>
              </a:spcAft>
              <a:buNone/>
            </a:pPr>
            <a:r>
              <a:rPr lang="en-US" sz="255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综合案例架构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685800" y="7441109"/>
            <a:ext cx="13746480" cy="232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8"/>
              </a:lnSpc>
              <a:spcBef>
                <a:spcPts val="1125"/>
              </a:spcBef>
              <a:spcAft>
                <a:spcPts val="1125"/>
              </a:spcAft>
              <a:buNone/>
            </a:pPr>
            <a:r>
              <a:rPr lang="en-US" sz="1125" dirty="0">
                <a:solidFill>
                  <a:srgbClr val="475569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知识库 Agent（检索为主）与研发 Agent（流程为主）</a:t>
            </a:r>
            <a:endParaRPr lang="en-US" sz="1125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1811536"/>
            <a:ext cx="12496800" cy="971550"/>
          </a:xfrm>
          <a:prstGeom prst="roundRect">
            <a:avLst>
              <a:gd name="adj" fmla="val 784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2973586"/>
            <a:ext cx="12496800" cy="971550"/>
          </a:xfrm>
          <a:prstGeom prst="roundRect">
            <a:avLst>
              <a:gd name="adj" fmla="val 784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4135636"/>
            <a:ext cx="12496800" cy="971550"/>
          </a:xfrm>
          <a:prstGeom prst="roundRect">
            <a:avLst>
              <a:gd name="adj" fmla="val 7843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5411986"/>
            <a:ext cx="12496800" cy="967978"/>
          </a:xfrm>
          <a:prstGeom prst="roundRect">
            <a:avLst>
              <a:gd name="adj" fmla="val 7872"/>
            </a:avLst>
          </a:prstGeom>
          <a:solidFill>
            <a:srgbClr val="EFF6FF"/>
          </a:solidFill>
          <a:ln/>
        </p:spPr>
      </p:sp>
      <p:sp>
        <p:nvSpPr>
          <p:cNvPr id="7" name="Shape 5"/>
          <p:cNvSpPr/>
          <p:nvPr/>
        </p:nvSpPr>
        <p:spPr>
          <a:xfrm>
            <a:off x="700088" y="5411986"/>
            <a:ext cx="0" cy="967978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533400"/>
            <a:ext cx="523875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回顾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85800" y="942975"/>
            <a:ext cx="137464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49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三个核心问题 · 一图收束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23925" y="2125861"/>
            <a:ext cx="3300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Q1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23925" y="3287911"/>
            <a:ext cx="3300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891B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Q2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923925" y="4449961"/>
            <a:ext cx="33004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7C3AE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Q3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81075" y="5764411"/>
            <a:ext cx="13128308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读完全教程，你应该能</a:t>
            </a:r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自己画一张企业级 Agent 架构图</a:t>
            </a:r>
            <a:pPr algn="l" indent="0" marL="0">
              <a:lnSpc>
                <a:spcPts val="2072"/>
              </a:lnSpc>
              <a:spcBef>
                <a:spcPts val="1275"/>
              </a:spcBef>
              <a:spcAft>
                <a:spcPts val="1275"/>
              </a:spcAft>
              <a:buNone/>
            </a:pPr>
            <a:r>
              <a:rPr lang="en-US" sz="1275" dirty="0">
                <a:solidFill>
                  <a:srgbClr val="3341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，并说出每一层为什么存在。</a:t>
            </a:r>
            <a:endParaRPr lang="en-US" sz="1275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" y="76200"/>
            <a:ext cx="13716000" cy="771525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125861"/>
            <a:ext cx="3009900" cy="1019175"/>
          </a:xfrm>
          <a:prstGeom prst="roundRect">
            <a:avLst>
              <a:gd name="adj" fmla="val 747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48100" y="2125861"/>
            <a:ext cx="3009900" cy="1019175"/>
          </a:xfrm>
          <a:prstGeom prst="roundRect">
            <a:avLst>
              <a:gd name="adj" fmla="val 747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10400" y="2125861"/>
            <a:ext cx="3009900" cy="1019175"/>
          </a:xfrm>
          <a:prstGeom prst="roundRect">
            <a:avLst>
              <a:gd name="adj" fmla="val 747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172700" y="2125861"/>
            <a:ext cx="3009900" cy="1019175"/>
          </a:xfrm>
          <a:prstGeom prst="roundRect">
            <a:avLst>
              <a:gd name="adj" fmla="val 7477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3726061"/>
            <a:ext cx="6191250" cy="44767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91350" y="3726061"/>
            <a:ext cx="6191250" cy="44767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4288036"/>
            <a:ext cx="6191250" cy="44767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1350" y="4288036"/>
            <a:ext cx="6191250" cy="447675"/>
          </a:xfrm>
          <a:prstGeom prst="roundRect">
            <a:avLst>
              <a:gd name="adj" fmla="val 8511"/>
            </a:avLst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5040511"/>
            <a:ext cx="12496800" cy="1019175"/>
          </a:xfrm>
          <a:prstGeom prst="roundRect">
            <a:avLst>
              <a:gd name="adj" fmla="val 7477"/>
            </a:avLst>
          </a:prstGeom>
          <a:solidFill>
            <a:srgbClr val="EFF6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533400"/>
            <a:ext cx="660083" cy="257175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563E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下一步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85800" y="942975"/>
            <a:ext cx="1374648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200"/>
              </a:spcBef>
              <a:spcAft>
                <a:spcPts val="2490"/>
              </a:spcAft>
              <a:buNone/>
            </a:pPr>
            <a:r>
              <a:rPr lang="en-US" sz="30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学习路径与推荐资料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85825" y="3849886"/>
            <a:ext cx="89620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LangChain：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1739354" y="3878461"/>
            <a:ext cx="164973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2563E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python.langchain.com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7191375" y="3849886"/>
            <a:ext cx="9179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LangGraph：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065591" y="3878461"/>
            <a:ext cx="26393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891B2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langchain-ai.github.io/langgraph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885825" y="4411861"/>
            <a:ext cx="83410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MCP 规范：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1644104" y="4440436"/>
            <a:ext cx="18971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7C3AED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modelcontextprotocol.io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7191375" y="4411861"/>
            <a:ext cx="9666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64748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LlamaIndex：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8112026" y="4440436"/>
            <a:ext cx="14847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dirty="0">
                <a:solidFill>
                  <a:srgbClr val="059669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docs.llamaindex.ai</a:t>
            </a:r>
            <a:endParaRPr lang="en-US" sz="11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2026-08-19T02:55:37Z</dcterms:created>
  <dcterms:modified xsi:type="dcterms:W3CDTF">2026-08-19T02:55:37Z</dcterms:modified>
</cp:coreProperties>
</file>